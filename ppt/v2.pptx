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0936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23544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1417320"/>
            <a:ext cx="164592" cy="246888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Consolas"/>
              </a:rPr>
              <a:t>branch  air-to-fire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AF5FF"/>
                </a:solidFill>
                <a:latin typeface="Calibri"/>
              </a:rPr>
              <a:t>AIR → CSL
A Compiler Path to the Cerebras Wafer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8A1B8"/>
                </a:solidFill>
                <a:latin typeface="Calibri"/>
              </a:rPr>
              <a:t>188 commits  ·  single-PE → multi-PE  ·  validated on WSE-3 simulator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7DD3FC"/>
                </a:solidFill>
                <a:latin typeface="Consolas"/>
              </a:rPr>
              <a:t>What shipped, with one example per layer.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8A1B8"/>
                </a:solidFill>
                <a:latin typeface="Consolas"/>
              </a:rPr>
              <a:t>mlir-air  ·  CSL backend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The Pipeline  ·  top-down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User program  →  AIR  →  CSL IR  →  CSL language  →  WSE-3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4023360" cy="713232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28016" cy="713232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AF5FF"/>
                </a:solidFill>
                <a:latin typeface="Consola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8A1B8"/>
                </a:solidFill>
                <a:latin typeface="Calibri"/>
              </a:rPr>
              <a:t>user .mlir (or AIE / GPU lowerings)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350008" y="2523744"/>
            <a:ext cx="329184" cy="201168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706624"/>
            <a:ext cx="4023360" cy="713232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06624"/>
            <a:ext cx="128016" cy="71323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2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AF5FF"/>
                </a:solidFill>
                <a:latin typeface="Consolas"/>
              </a:rPr>
              <a:t>AIR dialect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9544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8A1B8"/>
                </a:solidFill>
                <a:latin typeface="Calibri"/>
              </a:rPr>
              <a:t>air.launch / segment / herd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350008" y="3401568"/>
            <a:ext cx="329184" cy="201168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84448"/>
            <a:ext cx="4023360" cy="713232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84448"/>
            <a:ext cx="128016" cy="71323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94176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AF5FF"/>
                </a:solidFill>
                <a:latin typeface="Consolas"/>
              </a:rPr>
              <a:t>CSL dialect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8736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8A1B8"/>
                </a:solidFill>
                <a:latin typeface="Calibri"/>
              </a:rPr>
              <a:t>csl.wafer · program · layout · host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350008" y="4279392"/>
            <a:ext cx="329184" cy="201168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462272"/>
            <a:ext cx="4023360" cy="713232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62272"/>
            <a:ext cx="128016" cy="713232"/>
          </a:xfrm>
          <a:prstGeom prst="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AF5FF"/>
                </a:solidFill>
                <a:latin typeface="Consolas"/>
              </a:rPr>
              <a:t>CSL 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8A1B8"/>
                </a:solidFill>
                <a:latin typeface="Calibri"/>
              </a:rPr>
              <a:t>pe_program.csl + layout.csl + run.py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2350008" y="5157216"/>
            <a:ext cx="329184" cy="201168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340096"/>
            <a:ext cx="4023360" cy="713232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340096"/>
            <a:ext cx="128016" cy="713232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9824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AF5FF"/>
                </a:solidFill>
                <a:latin typeface="Consolas"/>
              </a:rPr>
              <a:t>Simulator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4301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8A1B8"/>
                </a:solidFill>
                <a:latin typeface="Calibri"/>
              </a:rPr>
              <a:t>WSE-2 / WSE-3 (cslc + sdkruntime)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2350008" y="6035040"/>
            <a:ext cx="329184" cy="201168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7760" y="1783080"/>
            <a:ext cx="6858000" cy="4572000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1947672"/>
            <a:ext cx="6309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Calibri"/>
              </a:rPr>
              <a:t>Why each layer?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24688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onsolas"/>
              </a:rP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2468880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Whatever produces AIR — same entry-point as the AIE/GPU backends.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318211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onsolas"/>
              </a:rPr>
              <a:t>AIR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79" y="3182112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Three-level spatial hierarchy: launch (host) · segment (L2) · herd (compute).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89534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onsolas"/>
              </a:rPr>
              <a:t>CSL dialect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79" y="3895344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Typed MLIR — verifiers reject malformed CSL early; passes do real work.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460857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onsolas"/>
              </a:rPr>
              <a:t>CSL language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79" y="4608576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Cerebras-native text the SDK ingests; trivial to inspect and tweak by hand.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53218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onsolas"/>
              </a:rPr>
              <a:t>Simulator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79" y="5321808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Closes the loop — every multi-PE test on this branch prints SUCCESS!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989320"/>
            <a:ext cx="11247120" cy="4114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2920" y="6049320"/>
            <a:ext cx="11127120" cy="29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$ air-opt input.mlir -air-to-csl ... | air-translate --emit-csl --output-dir=out/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Why a new dialect?  ·  the questions a Cerebras program must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Each W-question maps directly to an op group in csl.*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430000" cy="50292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56232"/>
            <a:ext cx="133502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1856232"/>
            <a:ext cx="179222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Dialect concern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8" y="1856232"/>
            <a:ext cx="764438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What it covers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430000" cy="50292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5915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359152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onsolas"/>
              </a:rPr>
              <a:t>Kernel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2359152"/>
            <a:ext cx="7644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alibri"/>
              </a:rPr>
              <a:t>loops · arithmetic · DSD vector ops · tasks · functions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11430000" cy="50292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86207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862072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onsolas"/>
              </a:rPr>
              <a:t>Layout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8" y="2862072"/>
            <a:ext cx="7644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alibri"/>
              </a:rPr>
              <a:t>spatial properties · relative PE positions · problem-to-wafer mapping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11430000" cy="50292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36499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364992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onsolas"/>
              </a:rPr>
              <a:t>Data movement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8" y="3364992"/>
            <a:ext cx="7644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alibri"/>
              </a:rPr>
              <a:t>memory ↔ registers inside a PE  ·  inter-PE moves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430000" cy="50292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86791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Where (2)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3867912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onsolas"/>
              </a:rPr>
              <a:t>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8" y="3867912"/>
            <a:ext cx="7644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alibri"/>
              </a:rPr>
              <a:t>paths across PEs · sketch the wafer · network-traffic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11430000" cy="50292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37083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Which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370832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onsolas"/>
              </a:rPr>
              <a:t>Access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8" y="4370832"/>
            <a:ext cx="7644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alibri"/>
              </a:rPr>
              <a:t>scalar vs vector (DSD) · access patterns over memref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00600"/>
            <a:ext cx="11430000" cy="50292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87375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When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21408" y="4873752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onsolas"/>
              </a:rPr>
              <a:t>Async / sync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8" y="4873752"/>
            <a:ext cx="7644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alibri"/>
              </a:rPr>
              <a:t>async tasks · completion callbacks · synchronization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03520"/>
            <a:ext cx="11430000" cy="50292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37667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Why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1408" y="5376672"/>
            <a:ext cx="17922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onsolas"/>
              </a:rPr>
              <a:t>Optimization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3088" y="5376672"/>
            <a:ext cx="7644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AF5FF"/>
                </a:solidFill>
                <a:latin typeface="Calibri"/>
              </a:rPr>
              <a:t>is it necessary? · can we skip work? (forwarding, DSD layouts)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8A1B8"/>
                </a:solidFill>
                <a:latin typeface="Calibri"/>
              </a:rPr>
              <a:t>Take-away: existing MLIR dialects don't capture spatial placement, fabric routing, or wavelet semantics natively — that's the gap we fill.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Can AIR be the right choice?  ·  fit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AIR captures spatial + dataflow + placement.  We extend it with CSL ops for what it can't express.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  <a:latin typeface="Calibri"/>
              </a:rPr>
              <a:t>Properties checked against AIR + CSL extension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3474720" cy="34747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Spatial constructs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76272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Consolas"/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23744"/>
            <a:ext cx="3474720" cy="34747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Dataflow graphs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96896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Consolas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44368"/>
            <a:ext cx="3474720" cy="34747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Placement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1752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Consolas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64992"/>
            <a:ext cx="3474720" cy="34747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3814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Routing (fabric)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43814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Consolas"/>
              </a:rPr>
              <a:t>✓ (new in csl.*)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85616"/>
            <a:ext cx="3474720" cy="34747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587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Layout &amp; 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85876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Consolas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103120"/>
            <a:ext cx="3474720" cy="34747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17627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176272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Consolas"/>
              </a:rPr>
              <a:t>✓ (csl.dataflow.*)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523744"/>
            <a:ext cx="3474720" cy="34747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596896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Scheduling /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596896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Consolas"/>
              </a:rPr>
              <a:t>✓ (scf reused)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944368"/>
            <a:ext cx="3474720" cy="34747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301752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H2D / D2H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01752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Consolas"/>
              </a:rPr>
              <a:t>✓ (csl_host.*)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3364992"/>
            <a:ext cx="3474720" cy="34747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343814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Optimizations easy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43814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Consolas"/>
              </a:rPr>
              <a:t>✓ (typed IR)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785616"/>
            <a:ext cx="3474720" cy="34747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38587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Tooling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85876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6EFAC"/>
                </a:solidFill>
                <a:latin typeface="Consolas"/>
              </a:rPr>
              <a:t>✓ (lit + sim)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103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Calibri"/>
              </a:rPr>
              <a:t>Pros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2468880"/>
            <a:ext cx="402336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6EFAC"/>
                </a:solidFill>
                <a:latin typeface="Calibri"/>
              </a:rPr>
              <a:t>▸  </a:t>
            </a:r>
            <a:r>
              <a:rPr sz="1100">
                <a:solidFill>
                  <a:srgbClr val="FAF5FF"/>
                </a:solidFill>
                <a:latin typeface="Calibri"/>
              </a:rPr>
              <a:t>optimizations possible on typed IR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86EFAC"/>
                </a:solidFill>
                <a:latin typeface="Calibri"/>
              </a:rPr>
              <a:t>▸  </a:t>
            </a:r>
            <a:r>
              <a:rPr sz="1100">
                <a:solidFill>
                  <a:srgbClr val="FAF5FF"/>
                </a:solidFill>
                <a:latin typeface="Calibri"/>
              </a:rPr>
              <a:t>lowering = a normal conversion pass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86EFAC"/>
                </a:solidFill>
                <a:latin typeface="Calibri"/>
              </a:rPr>
              <a:t>▸  </a:t>
            </a:r>
            <a:r>
              <a:rPr sz="1100">
                <a:solidFill>
                  <a:srgbClr val="FAF5FF"/>
                </a:solidFill>
                <a:latin typeface="Calibri"/>
              </a:rPr>
              <a:t>output codegen is manageable text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86EFAC"/>
                </a:solidFill>
                <a:latin typeface="Calibri"/>
              </a:rPr>
              <a:t>▸  </a:t>
            </a:r>
            <a:r>
              <a:rPr sz="1100">
                <a:solidFill>
                  <a:srgbClr val="FAF5FF"/>
                </a:solidFill>
                <a:latin typeface="Calibri"/>
              </a:rPr>
              <a:t>captures semantics AIE / GPU dialects don't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0233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DA4AF"/>
                </a:solidFill>
                <a:latin typeface="Calibri"/>
              </a:rPr>
              <a:t>Cons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389120"/>
            <a:ext cx="40233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DA4AF"/>
                </a:solidFill>
                <a:latin typeface="Calibri"/>
              </a:rPr>
              <a:t>▸  </a:t>
            </a:r>
            <a:r>
              <a:rPr sz="1100">
                <a:solidFill>
                  <a:srgbClr val="FAF5FF"/>
                </a:solidFill>
                <a:latin typeface="Calibri"/>
              </a:rPr>
              <a:t>time to build + maintain a new dialect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9377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Opportunities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303520"/>
            <a:ext cx="40233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BBF24"/>
                </a:solidFill>
                <a:latin typeface="Calibri"/>
              </a:rPr>
              <a:t>▸  </a:t>
            </a:r>
            <a:r>
              <a:rPr sz="1100">
                <a:solidFill>
                  <a:srgbClr val="FAF5FF"/>
                </a:solidFill>
                <a:latin typeface="Calibri"/>
              </a:rPr>
              <a:t>PE-grid forwarding opt (routing + fabric as 1st class)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BBF24"/>
                </a:solidFill>
                <a:latin typeface="Calibri"/>
              </a:rPr>
              <a:t>▸  </a:t>
            </a:r>
            <a:r>
              <a:rPr sz="1100">
                <a:solidFill>
                  <a:srgbClr val="FAF5FF"/>
                </a:solidFill>
                <a:latin typeface="Calibri"/>
              </a:rPr>
              <a:t>map-schedule-on-grid pass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BBF24"/>
                </a:solidFill>
                <a:latin typeface="Calibri"/>
              </a:rPr>
              <a:t>▸  </a:t>
            </a:r>
            <a:r>
              <a:rPr sz="1100">
                <a:solidFill>
                  <a:srgbClr val="FAF5FF"/>
                </a:solidFill>
                <a:latin typeface="Calibri"/>
              </a:rPr>
              <a:t>DSD-layout optimizations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1.  CSL Dialect v2  ·  op groups + key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Six TableGen op groups under mlir/include/air/Dialect/CSL/ — all under one csl.wafer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56232"/>
            <a:ext cx="133502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Op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1856232"/>
            <a:ext cx="343814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TableGen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1856232"/>
            <a:ext cx="581558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Key 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247120" cy="50292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5915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359152"/>
            <a:ext cx="34381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CSLLayoutOps.td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2359152"/>
            <a:ext cx="58155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csl.wafer · csl.layout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86207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Placement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862072"/>
            <a:ext cx="34381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CSLPlacementOps.td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2862072"/>
            <a:ext cx="58155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csl_layout.place {at | over [a:b,c:d]}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36499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Kernel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3364992"/>
            <a:ext cx="34381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CSLKernelOps.td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3364992"/>
            <a:ext cx="58155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csl.program · csl.func · csl.var · csl.task · csl.return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247120" cy="50292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86791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3867912"/>
            <a:ext cx="34381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CSLRoutingOps.td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8" y="3867912"/>
            <a:ext cx="58155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csl.color · csl_layout.set_color_config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37083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DataMovement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370832"/>
            <a:ext cx="34381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CSLDataMovementOps.td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4370832"/>
            <a:ext cx="58155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csl.get_mem_dsd · csl.get_fab_dsd · csl.builtin_call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87375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Runtime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21408" y="4873752"/>
            <a:ext cx="34381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CSLRuntimeOps.td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9008" y="4873752"/>
            <a:ext cx="58155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csl.import_module · csl.export · csl.host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Why this layout?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112471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One file per concern — verifiers stay focused, tests are scoped, op IDs stay stable.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Old Phase-1 raw-text emitter, csl_rt dialect, spatial_placement ops fully removed.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2.  --emit-csl  ·  three sub-emitters, one runnable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air-translate --emit-csl writes a directory the Cerebras simulator runs as-is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703320" cy="914400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28016" cy="91440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AF5FF"/>
                </a:solidFill>
                <a:latin typeface="Calibri"/>
              </a:rPr>
              <a:t>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DD3FC"/>
                </a:solidFill>
                <a:latin typeface="Consolas"/>
              </a:rPr>
              <a:t>pe_program.csl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8A1B8"/>
                </a:solidFill>
                <a:latin typeface="Calibri"/>
              </a:rPr>
              <a:t>per-PE kernel — fn compute, DSDs, comptime exports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703320" cy="914400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128016" cy="9144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20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AF5FF"/>
                </a:solidFill>
                <a:latin typeface="Calibri"/>
              </a:rPr>
              <a:t>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402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BBF24"/>
                </a:solidFill>
                <a:latin typeface="Consolas"/>
              </a:rPr>
              <a:t>layout.csl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420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8A1B8"/>
                </a:solidFill>
                <a:latin typeface="Calibri"/>
              </a:rPr>
              <a:t>@set_rectangle + @set_tile_code; subgrid placement 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3703320" cy="914400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128016" cy="914400"/>
          </a:xfrm>
          <a:prstGeom prst="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920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AF5FF"/>
                </a:solidFill>
                <a:latin typeface="Calibri"/>
              </a:rPr>
              <a:t>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2402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  <a:latin typeface="Consolas"/>
              </a:rPr>
              <a:t>run.py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5420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8A1B8"/>
                </a:solidFill>
                <a:latin typeface="Calibri"/>
              </a:rPr>
              <a:t>SdkRuntime: memcpy_h2d / launch / memcpy_d2h + np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  <a:latin typeface="Calibri"/>
              </a:rPr>
              <a:t>Supports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54864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func.func / func.call / func.return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arith: add / sub / mul / div / max / min / neg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scf.for · scf.while · scf.if · scf.index_switch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arith.cmpf / cmpi / index_cast / select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memref.subview  →  strided DSDs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csl.import_module · csl.builtin_call (bare + module forms)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auto numpy reference check in run.py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multi-program: one .csl per csl.program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WSE-2 and WSE-3 commands.sh in same 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17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Strided DSDs from memref.subview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429000"/>
            <a:ext cx="5486400" cy="301752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7920" y="3489000"/>
            <a:ext cx="5366400" cy="2897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MLIR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%v =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memref.subview</a:t>
            </a:r>
            <a:r>
              <a:rPr sz="1100">
                <a:solidFill>
                  <a:srgbClr val="E9E3F5"/>
                </a:solidFill>
                <a:latin typeface="Consolas"/>
              </a:rPr>
              <a:t> %a[3] [32] [4]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</a:t>
            </a:r>
            <a:r>
              <a:rPr sz="1100">
                <a:solidFill>
                  <a:srgbClr val="E9E3F5"/>
                </a:solidFill>
                <a:latin typeface="Consolas"/>
              </a:rPr>
              <a:t>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&lt;128xf32&gt; to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&lt;32xf32, </a:t>
            </a:r>
            <a:r>
              <a:rPr sz="1100" b="1">
                <a:solidFill>
                  <a:srgbClr val="C4B5FD"/>
                </a:solidFill>
                <a:latin typeface="Consolas"/>
              </a:rPr>
              <a:t>strided</a:t>
            </a:r>
            <a:r>
              <a:rPr sz="1100">
                <a:solidFill>
                  <a:srgbClr val="E9E3F5"/>
                </a:solidFill>
                <a:latin typeface="Consolas"/>
              </a:rPr>
              <a:t>&lt;[4], offset:3&gt;&gt;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%d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csl.get_mem_dsd</a:t>
            </a:r>
            <a:r>
              <a:rPr sz="1100">
                <a:solidFill>
                  <a:srgbClr val="E9E3F5"/>
                </a:solidFill>
                <a:latin typeface="Consolas"/>
              </a:rPr>
              <a:t> %v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</a:t>
            </a:r>
            <a:r>
              <a:rPr sz="1100">
                <a:solidFill>
                  <a:srgbClr val="E9E3F5"/>
                </a:solidFill>
                <a:latin typeface="Consolas"/>
              </a:rPr>
              <a:t>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&lt;32xf32, </a:t>
            </a:r>
            <a:r>
              <a:rPr sz="1100" b="1">
                <a:solidFill>
                  <a:srgbClr val="C4B5FD"/>
                </a:solidFill>
                <a:latin typeface="Consolas"/>
              </a:rPr>
              <a:t>strided</a:t>
            </a:r>
            <a:r>
              <a:rPr sz="1100">
                <a:solidFill>
                  <a:srgbClr val="E9E3F5"/>
                </a:solidFill>
                <a:latin typeface="Consolas"/>
              </a:rPr>
              <a:t>&lt;[4], offset:3&gt;&gt;</a:t>
            </a:r>
          </a:p>
          <a:p>
            <a:pPr algn="l"/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Emitted CSL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mem1d_dsd</a:t>
            </a:r>
            <a:r>
              <a:rPr sz="1100">
                <a:solidFill>
                  <a:srgbClr val="E9E3F5"/>
                </a:solidFill>
                <a:latin typeface="Consolas"/>
              </a:rPr>
              <a:t>, .{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.base_address = &amp;a,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.extent = 32, .stride = 4,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});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@increment_dsd_offset</a:t>
            </a:r>
            <a:r>
              <a:rPr sz="1100">
                <a:solidFill>
                  <a:srgbClr val="E9E3F5"/>
                </a:solidFill>
                <a:latin typeface="Consolas"/>
              </a:rPr>
              <a:t>(d, 3, 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2b.  --emit-csl output  ·  pe_program.csl  ·  layout.csl  ·  run.py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All three files end up under  out/&lt;wafer&gt;/   along with  commands_wse{2,3}.sh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  <a:latin typeface="Calibri"/>
              </a:rPr>
              <a:t>pe_program.csl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657600" cy="420624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3537600" cy="408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param memcpy_params: </a:t>
            </a:r>
            <a:r>
              <a:rPr sz="1100" b="1">
                <a:solidFill>
                  <a:srgbClr val="C4B5FD"/>
                </a:solidFill>
                <a:latin typeface="Consolas"/>
              </a:rPr>
              <a:t>comptime</a:t>
            </a:r>
            <a:r>
              <a:rPr sz="1100">
                <a:solidFill>
                  <a:srgbClr val="E9E3F5"/>
                </a:solidFill>
                <a:latin typeface="Consolas"/>
              </a:rPr>
              <a:t>_struct;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sys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@import_module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"&lt;memcpy/memcpy&gt;", memcpy_params);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a: [256]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b: [256]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c: [256]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fn</a:t>
            </a:r>
            <a:r>
              <a:rPr sz="1100">
                <a:solidFill>
                  <a:srgbClr val="E9E3F5"/>
                </a:solidFill>
                <a:latin typeface="Consolas"/>
              </a:rPr>
              <a:t> compute() </a:t>
            </a:r>
            <a:r>
              <a:rPr sz="1100" b="1">
                <a:solidFill>
                  <a:srgbClr val="C4B5FD"/>
                </a:solidFill>
                <a:latin typeface="Consolas"/>
              </a:rPr>
              <a:t>void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da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mem1d_dsd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.{.base_address=&amp;a, .extent=256});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db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mem1d_dsd</a:t>
            </a:r>
            <a:r>
              <a:rPr sz="1100">
                <a:solidFill>
                  <a:srgbClr val="E9E3F5"/>
                </a:solidFill>
                <a:latin typeface="Consolas"/>
              </a:rPr>
              <a:t>, ...);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dc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mem1d_dsd</a:t>
            </a:r>
            <a:r>
              <a:rPr sz="1100">
                <a:solidFill>
                  <a:srgbClr val="E9E3F5"/>
                </a:solidFill>
                <a:latin typeface="Consolas"/>
              </a:rPr>
              <a:t>, ...);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@fadds</a:t>
            </a:r>
            <a:r>
              <a:rPr sz="1100">
                <a:solidFill>
                  <a:srgbClr val="E9E3F5"/>
                </a:solidFill>
                <a:latin typeface="Consolas"/>
              </a:rPr>
              <a:t>(dc, da, db);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sys.unblock_cmd_stream();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comptime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@export_symbol</a:t>
            </a:r>
            <a:r>
              <a:rPr sz="1100">
                <a:solidFill>
                  <a:srgbClr val="E9E3F5"/>
                </a:solidFill>
                <a:latin typeface="Consolas"/>
              </a:rPr>
              <a:t>(&amp;a, "a");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@export_symbol</a:t>
            </a:r>
            <a:r>
              <a:rPr sz="1100">
                <a:solidFill>
                  <a:srgbClr val="E9E3F5"/>
                </a:solidFill>
                <a:latin typeface="Consolas"/>
              </a:rPr>
              <a:t>(compute);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layout.csl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657600" cy="420624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7680" y="2071680"/>
            <a:ext cx="3537600" cy="408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memcpy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@import_module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"&lt;memcpy/get_params&gt;", .{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.width = 1, .height = 1,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});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layout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@set_rectangle</a:t>
            </a:r>
            <a:r>
              <a:rPr sz="1100">
                <a:solidFill>
                  <a:srgbClr val="E9E3F5"/>
                </a:solidFill>
                <a:latin typeface="Consolas"/>
              </a:rPr>
              <a:t>(1, 1);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@set_tile_code</a:t>
            </a:r>
            <a:r>
              <a:rPr sz="1100">
                <a:solidFill>
                  <a:srgbClr val="E9E3F5"/>
                </a:solidFill>
                <a:latin typeface="Consolas"/>
              </a:rPr>
              <a:t>(0, 0,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"pe_program.csl",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.{.memcpy_params =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</a:t>
            </a:r>
            <a:r>
              <a:rPr sz="1100">
                <a:solidFill>
                  <a:srgbClr val="E9E3F5"/>
                </a:solidFill>
                <a:latin typeface="Consolas"/>
              </a:rPr>
              <a:t>memcpy.get_params(0)});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  <a:latin typeface="Calibri"/>
              </a:rPr>
              <a:t>run.py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011680"/>
            <a:ext cx="3657600" cy="420624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8160" y="2071680"/>
            <a:ext cx="3537600" cy="408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import</a:t>
            </a:r>
            <a:r>
              <a:rPr sz="1100">
                <a:solidFill>
                  <a:srgbClr val="E9E3F5"/>
                </a:solidFill>
                <a:latin typeface="Consolas"/>
              </a:rPr>
              <a:t> numpy </a:t>
            </a:r>
            <a:r>
              <a:rPr sz="1100" b="1">
                <a:solidFill>
                  <a:srgbClr val="C4B5FD"/>
                </a:solidFill>
                <a:latin typeface="Consolas"/>
              </a:rPr>
              <a:t>as</a:t>
            </a:r>
            <a:r>
              <a:rPr sz="1100">
                <a:solidFill>
                  <a:srgbClr val="E9E3F5"/>
                </a:solidFill>
                <a:latin typeface="Consolas"/>
              </a:rPr>
              <a:t> np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from</a:t>
            </a:r>
            <a:r>
              <a:rPr sz="1100">
                <a:solidFill>
                  <a:srgbClr val="E9E3F5"/>
                </a:solidFill>
                <a:latin typeface="Consolas"/>
              </a:rPr>
              <a:t> cerebras.sdk.runtime </a:t>
            </a:r>
            <a:r>
              <a:rPr sz="1100" b="1">
                <a:solidFill>
                  <a:srgbClr val="C4B5FD"/>
                </a:solidFill>
                <a:latin typeface="Consolas"/>
              </a:rPr>
              <a:t>import</a:t>
            </a:r>
            <a:r>
              <a:rPr sz="1100">
                <a:solidFill>
                  <a:srgbClr val="E9E3F5"/>
                </a:solidFill>
                <a:latin typeface="Consolas"/>
              </a:rPr>
              <a:t> (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SdkRuntime, MemcpyOrder)</a:t>
            </a:r>
          </a:p>
          <a:p>
            <a:pPr algn="l"/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a = np.arange(256, dtype=np.float32)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b = np.ones(256, dtype=np.float32)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c = np.zeros(256, dtype=np.float32)</a:t>
            </a:r>
          </a:p>
          <a:p>
            <a:pPr algn="l"/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 = SdkRuntime(name,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</a:t>
            </a:r>
            <a:r>
              <a:rPr sz="1100">
                <a:solidFill>
                  <a:srgbClr val="E9E3F5"/>
                </a:solidFill>
                <a:latin typeface="Consolas"/>
              </a:rPr>
              <a:t>simfab_numthreads=32)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r.load(); r.run()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r.memcpy_h2d(r.get_id("a"), a, ...)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r.memcpy_h2d(r.get_id("b"), b, ...)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r.launch("compute", nonblock=</a:t>
            </a:r>
            <a:r>
              <a:rPr sz="1100" b="1">
                <a:solidFill>
                  <a:srgbClr val="C4B5FD"/>
                </a:solidFill>
                <a:latin typeface="Consolas"/>
              </a:rPr>
              <a:t>False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r.memcpy_d2h(c, r.get_id("c"), ...)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r.stop()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assert</a:t>
            </a:r>
            <a:r>
              <a:rPr sz="1100">
                <a:solidFill>
                  <a:srgbClr val="E9E3F5"/>
                </a:solidFill>
                <a:latin typeface="Consolas"/>
              </a:rPr>
              <a:t> np.allclose(c, a + b)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print("SUCCESS!")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Pass pipeline  ·  birds-eye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What input MLIR enters, what IR each pass produces, what comes out at the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5029200" cy="56692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28016" cy="566928"/>
          </a:xfrm>
          <a:prstGeom prst="rect">
            <a:avLst/>
          </a:prstGeom>
          <a:solidFill>
            <a:srgbClr val="A8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8A1B8"/>
                </a:solidFill>
                <a:latin typeface="Consolas"/>
              </a:rPr>
              <a:t>input.mlir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288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AIR program (or csl.wafer source)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907792" y="2322576"/>
            <a:ext cx="219456" cy="118872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41448"/>
            <a:ext cx="5029200" cy="56692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41448"/>
            <a:ext cx="128016" cy="566928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onsolas"/>
              </a:rPr>
              <a:t>-air-to-csl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871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AIR herd → csl.program + csl.host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907792" y="2980944"/>
            <a:ext cx="219456" cy="118872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099816"/>
            <a:ext cx="5029200" cy="56692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099816"/>
            <a:ext cx="128016" cy="566928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455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onsolas"/>
              </a:rPr>
              <a:t>-csl-verify-params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45536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validate program param shapes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907792" y="3639312"/>
            <a:ext cx="219456" cy="118872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58184"/>
            <a:ext cx="5029200" cy="56692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58184"/>
            <a:ext cx="128016" cy="566928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0390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onsolas"/>
              </a:rPr>
              <a:t>-csl-infer-exports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803904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auto-fill csl.export from host ops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2907792" y="4297680"/>
            <a:ext cx="219456" cy="118872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416552"/>
            <a:ext cx="5029200" cy="56692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416552"/>
            <a:ext cx="128016" cy="566928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622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onsolas"/>
              </a:rPr>
              <a:t>-csl-auto-vectorize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46227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scf.for idioms → DSD builtins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2907792" y="4956048"/>
            <a:ext cx="219456" cy="118872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074920"/>
            <a:ext cx="5029200" cy="56692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074920"/>
            <a:ext cx="128016" cy="5669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206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onsolas"/>
              </a:rPr>
              <a:t>--csl-dataflow-to-csl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1206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multi-PE: 4 sub-passes (next slide)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2907792" y="5614416"/>
            <a:ext cx="219456" cy="118872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733288"/>
            <a:ext cx="5029200" cy="56692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733288"/>
            <a:ext cx="128016" cy="566928"/>
          </a:xfrm>
          <a:prstGeom prst="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7790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onsolas"/>
              </a:rPr>
              <a:t>air-translate --emit-csl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577900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csl.wafer → pe/layout/run.py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2907792" y="6272784"/>
            <a:ext cx="219456" cy="118872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6391656"/>
            <a:ext cx="5029200" cy="56692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6391656"/>
            <a:ext cx="128016" cy="566928"/>
          </a:xfrm>
          <a:prstGeom prst="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43737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onsolas"/>
              </a:rPr>
              <a:t>out/&lt;wafer&gt;/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6437376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runnable directory + commands.sh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7830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Calibri"/>
              </a:rPr>
              <a:t>What changes at each step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2194560"/>
            <a:ext cx="5760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7DD3FC"/>
                </a:solidFill>
                <a:latin typeface="Calibri"/>
              </a:rPr>
              <a:t>▸  </a:t>
            </a:r>
            <a:r>
              <a:rPr sz="1300">
                <a:solidFill>
                  <a:srgbClr val="FAF5FF"/>
                </a:solidFill>
                <a:latin typeface="Calibri"/>
              </a:rPr>
              <a:t>input  →  AIR three-level scaffold (launch/segment/herd)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7DD3FC"/>
                </a:solidFill>
                <a:latin typeface="Calibri"/>
              </a:rPr>
              <a:t>▸  </a:t>
            </a:r>
            <a:r>
              <a:rPr sz="1300">
                <a:solidFill>
                  <a:srgbClr val="FAF5FF"/>
                </a:solidFill>
                <a:latin typeface="Calibri"/>
              </a:rPr>
              <a:t>after -air-to-csl  →  csl.wafer container; AIR ops gone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7DD3FC"/>
                </a:solidFill>
                <a:latin typeface="Calibri"/>
              </a:rPr>
              <a:t>▸  </a:t>
            </a:r>
            <a:r>
              <a:rPr sz="1300">
                <a:solidFill>
                  <a:srgbClr val="FAF5FF"/>
                </a:solidFill>
                <a:latin typeface="Calibri"/>
              </a:rPr>
              <a:t>after -csl-verify-params  →  same IR, programs verified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7DD3FC"/>
                </a:solidFill>
                <a:latin typeface="Calibri"/>
              </a:rPr>
              <a:t>▸  </a:t>
            </a:r>
            <a:r>
              <a:rPr sz="1300">
                <a:solidFill>
                  <a:srgbClr val="FAF5FF"/>
                </a:solidFill>
                <a:latin typeface="Calibri"/>
              </a:rPr>
              <a:t>after -csl-infer-exports  →  csl.export ops materialized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7DD3FC"/>
                </a:solidFill>
                <a:latin typeface="Calibri"/>
              </a:rPr>
              <a:t>▸  </a:t>
            </a:r>
            <a:r>
              <a:rPr sz="1300">
                <a:solidFill>
                  <a:srgbClr val="FAF5FF"/>
                </a:solidFill>
                <a:latin typeface="Calibri"/>
              </a:rPr>
              <a:t>after -csl-auto-vectorize  →  scf.for replaced by @fadds/@fmacs/...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7DD3FC"/>
                </a:solidFill>
                <a:latin typeface="Calibri"/>
              </a:rPr>
              <a:t>▸  </a:t>
            </a:r>
            <a:r>
              <a:rPr sz="1300">
                <a:solidFill>
                  <a:srgbClr val="FAF5FF"/>
                </a:solidFill>
                <a:latin typeface="Calibri"/>
              </a:rPr>
              <a:t>after --csl-dataflow-to-csl  →  fabric colors + routing + tasks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7DD3FC"/>
                </a:solidFill>
                <a:latin typeface="Calibri"/>
              </a:rPr>
              <a:t>▸  </a:t>
            </a:r>
            <a:r>
              <a:rPr sz="1300">
                <a:solidFill>
                  <a:srgbClr val="FAF5FF"/>
                </a:solidFill>
                <a:latin typeface="Calibri"/>
              </a:rPr>
              <a:t>after --emit-csl  →  no MLIR left; just text files for cslc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59893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8A1B8"/>
                </a:solidFill>
                <a:latin typeface="Calibri"/>
              </a:rPr>
              <a:t>Each pass is independently testable — one FileCheck file per transition.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Pass:  -air-to-csl  ·  before /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Lowers AIR's three-level hierarchy to the csl.* dialect (today: 1-PE and N-PE SIMD)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 ·  AIR vecadd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func.func</a:t>
            </a:r>
            <a:r>
              <a:rPr sz="1100">
                <a:solidFill>
                  <a:srgbClr val="E9E3F5"/>
                </a:solidFill>
                <a:latin typeface="Consolas"/>
              </a:rPr>
              <a:t> @vecadd(%a, %b, %c)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%one = </a:t>
            </a:r>
            <a:r>
              <a:rPr sz="1100" b="1">
                <a:solidFill>
                  <a:srgbClr val="C4B5FD"/>
                </a:solidFill>
                <a:latin typeface="Consolas"/>
              </a:rPr>
              <a:t>arith.constant</a:t>
            </a:r>
            <a:r>
              <a:rPr sz="1100">
                <a:solidFill>
                  <a:srgbClr val="E9E3F5"/>
                </a:solidFill>
                <a:latin typeface="Consolas"/>
              </a:rPr>
              <a:t> 1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air.launch</a:t>
            </a:r>
            <a:r>
              <a:rPr sz="1100">
                <a:solidFill>
                  <a:srgbClr val="E9E3F5"/>
                </a:solidFill>
                <a:latin typeface="Consolas"/>
              </a:rPr>
              <a:t> (%tx) in (%sx=%one) args(...)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air.segment</a:t>
            </a:r>
            <a:r>
              <a:rPr sz="1100">
                <a:solidFill>
                  <a:srgbClr val="E9E3F5"/>
                </a:solidFill>
                <a:latin typeface="Consolas"/>
              </a:rPr>
              <a:t> @seg args(...)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air.herd</a:t>
            </a:r>
            <a:r>
              <a:rPr sz="1100">
                <a:solidFill>
                  <a:srgbClr val="E9E3F5"/>
                </a:solidFill>
                <a:latin typeface="Consolas"/>
              </a:rPr>
              <a:t> @h tile(%i, %j)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 </a:t>
            </a:r>
            <a:r>
              <a:rPr sz="1100">
                <a:solidFill>
                  <a:srgbClr val="E9E3F5"/>
                </a:solidFill>
                <a:latin typeface="Consolas"/>
              </a:rPr>
              <a:t>in (%hx=%one, %hy=%one)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 </a:t>
            </a:r>
            <a:r>
              <a:rPr sz="1100">
                <a:solidFill>
                  <a:srgbClr val="E9E3F5"/>
                </a:solidFill>
                <a:latin typeface="Consolas"/>
              </a:rPr>
              <a:t>args(%ha=..., %hb=..., %hc=...)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scf.for</a:t>
            </a:r>
            <a:r>
              <a:rPr sz="1100">
                <a:solidFill>
                  <a:srgbClr val="E9E3F5"/>
                </a:solidFill>
                <a:latin typeface="Consolas"/>
              </a:rPr>
              <a:t> %i = %c0 to %c256 step %c1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 </a:t>
            </a:r>
            <a:r>
              <a:rPr sz="1100">
                <a:solidFill>
                  <a:srgbClr val="E9E3F5"/>
                </a:solidFill>
                <a:latin typeface="Consolas"/>
              </a:rPr>
              <a:t>%va =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memref.load</a:t>
            </a:r>
            <a:r>
              <a:rPr sz="1100">
                <a:solidFill>
                  <a:srgbClr val="E9E3F5"/>
                </a:solidFill>
                <a:latin typeface="Consolas"/>
              </a:rPr>
              <a:t> %ha[%i]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 </a:t>
            </a:r>
            <a:r>
              <a:rPr sz="1100">
                <a:solidFill>
                  <a:srgbClr val="E9E3F5"/>
                </a:solidFill>
                <a:latin typeface="Consolas"/>
              </a:rPr>
              <a:t>%vb =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memref.load</a:t>
            </a:r>
            <a:r>
              <a:rPr sz="1100">
                <a:solidFill>
                  <a:srgbClr val="E9E3F5"/>
                </a:solidFill>
                <a:latin typeface="Consolas"/>
              </a:rPr>
              <a:t> %hb[%i]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 </a:t>
            </a:r>
            <a:r>
              <a:rPr sz="1100">
                <a:solidFill>
                  <a:srgbClr val="E9E3F5"/>
                </a:solidFill>
                <a:latin typeface="Consolas"/>
              </a:rPr>
              <a:t>%vc = </a:t>
            </a:r>
            <a:r>
              <a:rPr sz="1100" b="1">
                <a:solidFill>
                  <a:srgbClr val="C4B5FD"/>
                </a:solidFill>
                <a:latin typeface="Consolas"/>
              </a:rPr>
              <a:t>arith.addf</a:t>
            </a:r>
            <a:r>
              <a:rPr sz="1100">
                <a:solidFill>
                  <a:srgbClr val="E9E3F5"/>
                </a:solidFill>
                <a:latin typeface="Consolas"/>
              </a:rPr>
              <a:t> %va, %vb : 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memref.store</a:t>
            </a:r>
            <a:r>
              <a:rPr sz="1100">
                <a:solidFill>
                  <a:srgbClr val="E9E3F5"/>
                </a:solidFill>
                <a:latin typeface="Consolas"/>
              </a:rPr>
              <a:t> %vc, %hc[%i]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air.herd</a:t>
            </a:r>
            <a:r>
              <a:rPr sz="1100">
                <a:solidFill>
                  <a:srgbClr val="E9E3F5"/>
                </a:solidFill>
                <a:latin typeface="Consolas"/>
              </a:rPr>
              <a:t>_terminator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Output  ·  csl.wafer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csl.wafer</a:t>
            </a:r>
            <a:r>
              <a:rPr sz="1100">
                <a:solidFill>
                  <a:srgbClr val="E9E3F5"/>
                </a:solidFill>
                <a:latin typeface="Consolas"/>
              </a:rPr>
              <a:t> @vecadd {arch = "wse3"}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csl.program</a:t>
            </a:r>
            <a:r>
              <a:rPr sz="1100">
                <a:solidFill>
                  <a:srgbClr val="E9E3F5"/>
                </a:solidFill>
                <a:latin typeface="Consolas"/>
              </a:rPr>
              <a:t> @pe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%a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csl.var</a:t>
            </a:r>
            <a:r>
              <a:rPr sz="1100">
                <a:solidFill>
                  <a:srgbClr val="E9E3F5"/>
                </a:solidFill>
                <a:latin typeface="Consolas"/>
              </a:rPr>
              <a:t> @a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&lt;256xf32&gt;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%b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csl.var</a:t>
            </a:r>
            <a:r>
              <a:rPr sz="1100">
                <a:solidFill>
                  <a:srgbClr val="E9E3F5"/>
                </a:solidFill>
                <a:latin typeface="Consolas"/>
              </a:rPr>
              <a:t> @b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&lt;256xf32&gt;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%c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csl.var</a:t>
            </a:r>
            <a:r>
              <a:rPr sz="1100">
                <a:solidFill>
                  <a:srgbClr val="E9E3F5"/>
                </a:solidFill>
                <a:latin typeface="Consolas"/>
              </a:rPr>
              <a:t> @c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&lt;256xf32&gt;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 /* same </a:t>
            </a:r>
            <a:r>
              <a:rPr sz="1100" b="1">
                <a:solidFill>
                  <a:srgbClr val="C4B5FD"/>
                </a:solidFill>
                <a:latin typeface="Consolas"/>
              </a:rPr>
              <a:t>scf.for</a:t>
            </a:r>
            <a:r>
              <a:rPr sz="1100">
                <a:solidFill>
                  <a:srgbClr val="E9E3F5"/>
                </a:solidFill>
                <a:latin typeface="Consolas"/>
              </a:rPr>
              <a:t> body */ 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csl.export</a:t>
            </a:r>
            <a:r>
              <a:rPr sz="1100">
                <a:solidFill>
                  <a:srgbClr val="E9E3F5"/>
                </a:solidFill>
                <a:latin typeface="Consolas"/>
              </a:rPr>
              <a:t> @a {alias="a"}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csl.export</a:t>
            </a:r>
            <a:r>
              <a:rPr sz="1100">
                <a:solidFill>
                  <a:srgbClr val="E9E3F5"/>
                </a:solidFill>
                <a:latin typeface="Consolas"/>
              </a:rPr>
              <a:t> @b {alias="b"}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csl.export</a:t>
            </a:r>
            <a:r>
              <a:rPr sz="1100">
                <a:solidFill>
                  <a:srgbClr val="E9E3F5"/>
                </a:solidFill>
                <a:latin typeface="Consolas"/>
              </a:rPr>
              <a:t> @c {alias="c"}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csl.export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{kind="func"}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100">
                <a:solidFill>
                  <a:srgbClr val="E9E3F5"/>
                </a:solidFill>
                <a:latin typeface="Consolas"/>
              </a:rPr>
              <a:t> {width=1, height=1} @main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@pe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(0, 0)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csl.host</a:t>
            </a:r>
            <a:r>
              <a:rPr sz="1100">
                <a:solidFill>
                  <a:srgbClr val="E9E3F5"/>
                </a:solidFill>
                <a:latin typeface="Consolas"/>
              </a:rPr>
              <a:t> @h(...) {layout = @main}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csl_host.memcpy_h2d</a:t>
            </a:r>
            <a:r>
              <a:rPr sz="1100">
                <a:solidFill>
                  <a:srgbClr val="E9E3F5"/>
                </a:solidFill>
                <a:latin typeface="Consolas"/>
              </a:rPr>
              <a:t> ... ;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csl_host.launch</a:t>
            </a:r>
            <a:r>
              <a:rPr sz="1100">
                <a:solidFill>
                  <a:srgbClr val="E9E3F5"/>
                </a:solidFill>
                <a:latin typeface="Consolas"/>
              </a:rPr>
              <a:t> ...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Pass:  -csl-auto-vectorize  ·  before /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scf.for over memrefs  →  single DSD builtin call  (8 patterns, 13 loop rules)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 ·  scf.for add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265176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2531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4B5FD"/>
                </a:solidFill>
                <a:latin typeface="Consolas"/>
              </a:rPr>
              <a:t>scf.for</a:t>
            </a:r>
            <a:r>
              <a:rPr sz="1200">
                <a:solidFill>
                  <a:srgbClr val="E9E3F5"/>
                </a:solidFill>
                <a:latin typeface="Consolas"/>
              </a:rPr>
              <a:t> %i = %c0 to %n step %c1 {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>
                <a:solidFill>
                  <a:srgbClr val="E9E3F5"/>
                </a:solidFill>
                <a:latin typeface="Consolas"/>
              </a:rPr>
              <a:t>%va = </a:t>
            </a:r>
            <a:r>
              <a:rPr sz="1200" b="1">
                <a:solidFill>
                  <a:srgbClr val="C4B5FD"/>
                </a:solidFill>
                <a:latin typeface="Consolas"/>
              </a:rPr>
              <a:t>memref.load</a:t>
            </a:r>
            <a:r>
              <a:rPr sz="1200">
                <a:solidFill>
                  <a:srgbClr val="E9E3F5"/>
                </a:solidFill>
                <a:latin typeface="Consolas"/>
              </a:rPr>
              <a:t> %a[%i] : </a:t>
            </a:r>
            <a:r>
              <a:rPr sz="12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200">
                <a:solidFill>
                  <a:srgbClr val="E9E3F5"/>
                </a:solidFill>
                <a:latin typeface="Consolas"/>
              </a:rPr>
              <a:t>&lt;1024xf32&gt;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>
                <a:solidFill>
                  <a:srgbClr val="E9E3F5"/>
                </a:solidFill>
                <a:latin typeface="Consolas"/>
              </a:rPr>
              <a:t>%vb = </a:t>
            </a:r>
            <a:r>
              <a:rPr sz="1200" b="1">
                <a:solidFill>
                  <a:srgbClr val="C4B5FD"/>
                </a:solidFill>
                <a:latin typeface="Consolas"/>
              </a:rPr>
              <a:t>memref.load</a:t>
            </a:r>
            <a:r>
              <a:rPr sz="1200">
                <a:solidFill>
                  <a:srgbClr val="E9E3F5"/>
                </a:solidFill>
                <a:latin typeface="Consolas"/>
              </a:rPr>
              <a:t> %b[%i] : </a:t>
            </a:r>
            <a:r>
              <a:rPr sz="12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200">
                <a:solidFill>
                  <a:srgbClr val="E9E3F5"/>
                </a:solidFill>
                <a:latin typeface="Consolas"/>
              </a:rPr>
              <a:t>&lt;1024xf32&gt;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>
                <a:solidFill>
                  <a:srgbClr val="E9E3F5"/>
                </a:solidFill>
                <a:latin typeface="Consolas"/>
              </a:rPr>
              <a:t>%vc = </a:t>
            </a:r>
            <a:r>
              <a:rPr sz="1200" b="1">
                <a:solidFill>
                  <a:srgbClr val="C4B5FD"/>
                </a:solidFill>
                <a:latin typeface="Consolas"/>
              </a:rPr>
              <a:t>arith.addf</a:t>
            </a:r>
            <a:r>
              <a:rPr sz="1200">
                <a:solidFill>
                  <a:srgbClr val="E9E3F5"/>
                </a:solidFill>
                <a:latin typeface="Consolas"/>
              </a:rPr>
              <a:t> %va, %vb : </a:t>
            </a:r>
            <a:r>
              <a:rPr sz="1200" b="1">
                <a:solidFill>
                  <a:srgbClr val="C4B5FD"/>
                </a:solidFill>
                <a:latin typeface="Consolas"/>
              </a:rPr>
              <a:t>f32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memref.store</a:t>
            </a:r>
            <a:r>
              <a:rPr sz="1200">
                <a:solidFill>
                  <a:srgbClr val="E9E3F5"/>
                </a:solidFill>
                <a:latin typeface="Consolas"/>
              </a:rPr>
              <a:t> %vc, %c[%i] : </a:t>
            </a:r>
            <a:r>
              <a:rPr sz="12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200">
                <a:solidFill>
                  <a:srgbClr val="E9E3F5"/>
                </a:solidFill>
                <a:latin typeface="Consolas"/>
              </a:rPr>
              <a:t>&lt;1024xf32&gt;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Output  ·  one @fadds intrinsic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265176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2531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%da =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csl.get_mem_dsd</a:t>
            </a:r>
            <a:r>
              <a:rPr sz="1200">
                <a:solidFill>
                  <a:srgbClr val="E9E3F5"/>
                </a:solidFill>
                <a:latin typeface="Consolas"/>
              </a:rPr>
              <a:t> %a : </a:t>
            </a:r>
            <a:r>
              <a:rPr sz="12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200">
                <a:solidFill>
                  <a:srgbClr val="E9E3F5"/>
                </a:solidFill>
                <a:latin typeface="Consolas"/>
              </a:rPr>
              <a:t>&lt;1024xf32&gt;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%db =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csl.get_mem_dsd</a:t>
            </a:r>
            <a:r>
              <a:rPr sz="1200">
                <a:solidFill>
                  <a:srgbClr val="E9E3F5"/>
                </a:solidFill>
                <a:latin typeface="Consolas"/>
              </a:rPr>
              <a:t> %b : </a:t>
            </a:r>
            <a:r>
              <a:rPr sz="12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200">
                <a:solidFill>
                  <a:srgbClr val="E9E3F5"/>
                </a:solidFill>
                <a:latin typeface="Consolas"/>
              </a:rPr>
              <a:t>&lt;1024xf32&gt;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%dc =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csl.get_mem_dsd</a:t>
            </a:r>
            <a:r>
              <a:rPr sz="1200">
                <a:solidFill>
                  <a:srgbClr val="E9E3F5"/>
                </a:solidFill>
                <a:latin typeface="Consolas"/>
              </a:rPr>
              <a:t> %c : </a:t>
            </a:r>
            <a:r>
              <a:rPr sz="12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200">
                <a:solidFill>
                  <a:srgbClr val="E9E3F5"/>
                </a:solidFill>
                <a:latin typeface="Consolas"/>
              </a:rPr>
              <a:t>&lt;1024xf32&gt;</a:t>
            </a:r>
          </a:p>
          <a:p>
            <a:pPr algn="l"/>
            <a:r>
              <a:rPr sz="1200" b="1">
                <a:solidFill>
                  <a:srgbClr val="C4B5FD"/>
                </a:solidFill>
                <a:latin typeface="Consolas"/>
              </a:rPr>
              <a:t>csl.builtin_call</a:t>
            </a:r>
            <a:r>
              <a:rPr sz="1200">
                <a:solidFill>
                  <a:srgbClr val="E9E3F5"/>
                </a:solidFill>
                <a:latin typeface="Consolas"/>
              </a:rPr>
              <a:t> "fadds" (%dc, %da, %db)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  </a:t>
            </a:r>
            <a:r>
              <a:rPr sz="1200">
                <a:solidFill>
                  <a:srgbClr val="E9E3F5"/>
                </a:solidFill>
                <a:latin typeface="Consolas"/>
              </a:rPr>
              <a:t>: (!csl.dsd, !csl.dsd, !csl.dsd) -&gt; 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91947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Builtin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4919472"/>
            <a:ext cx="3895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Idiom (f32)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919472"/>
            <a:ext cx="5084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Pattern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@fadds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5285232"/>
            <a:ext cx="3895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c[i] = a[i] + b[i]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5285232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FaddsPattern · Rank2FaddsPattern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65099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@fsubs/@fmuls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5650992"/>
            <a:ext cx="3895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c[i] = a[i] ± / × b[i]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5650992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FsubsPattern · FmulsPattern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01675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@fmacs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5728" y="6016752"/>
            <a:ext cx="3895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y[i] = α·a[i] + y[i]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6016752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FmacsScalarPattern · Rank2FmacsPattern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@fmovs/@fnegs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6382512"/>
            <a:ext cx="3895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c[i] = a[i]  ·  c[i] = -a[i]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6382512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FmovsPattern · FnegsPattern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4.  Multi-PE dataflow  ·  4-pass pipeline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--csl-dataflow-to-csl  =  4 sub-passes  (renamed from 'stream' → 'dataflow')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5669280" cy="65836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28016" cy="658368"/>
          </a:xfrm>
          <a:prstGeom prst="rect">
            <a:avLst/>
          </a:prstGeom>
          <a:solidFill>
            <a:srgbClr val="A8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8A1B8"/>
                </a:solidFill>
                <a:latin typeface="Consola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6712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csl.dataflow.put/get + csl_layout.dataflow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209544" y="2423160"/>
            <a:ext cx="256032" cy="146304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60320"/>
            <a:ext cx="5669280" cy="65836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60320"/>
            <a:ext cx="128016" cy="658368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33472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onsolas"/>
              </a:rPr>
              <a:t>-csl-materialize-dataflow-colors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4436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synthesize csl.color symbol per stream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209544" y="3200400"/>
            <a:ext cx="256032" cy="146304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337560"/>
            <a:ext cx="5669280" cy="65836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37560"/>
            <a:ext cx="128016" cy="658368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10712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onsolas"/>
              </a:rPr>
              <a:t>-csl-allocate-color-ids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assign integer color IDs (0, 1, 2 …)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209544" y="3977640"/>
            <a:ext cx="256032" cy="146304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114800"/>
            <a:ext cx="5669280" cy="65836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114800"/>
            <a:ext cx="128016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87952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onsolas"/>
              </a:rPr>
              <a:t>-csl-lower-dataflow-routing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9884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emit set_color_config per PE endpoint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3209544" y="4754880"/>
            <a:ext cx="256032" cy="146304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892040"/>
            <a:ext cx="5669280" cy="65836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892040"/>
            <a:ext cx="128016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65192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onsolas"/>
              </a:rPr>
              <a:t>-csl-lower-dataflow-data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7608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expand put/get → fabric DSDs + tasks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3209544" y="5532120"/>
            <a:ext cx="256032" cy="146304"/>
          </a:xfrm>
          <a:prstGeom prst="downArrow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669280"/>
            <a:ext cx="5669280" cy="658368"/>
          </a:xfrm>
          <a:prstGeom prst="rect">
            <a:avLst/>
          </a:prstGeom>
          <a:solidFill>
            <a:srgbClr val="26213E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669280"/>
            <a:ext cx="128016" cy="658368"/>
          </a:xfrm>
          <a:prstGeom prst="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42432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onsolas"/>
              </a:rP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05332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csl.builtin_call + tasks; ready for --emit-csl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7830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Calibri"/>
              </a:rPr>
              <a:t>What gets resolved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194560"/>
            <a:ext cx="53949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Colors:  semantic name  →  csl.color symbol  →  numeric ID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Routing: per-PE config (direction in/out, route N/S/E/W)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Data:  high-level put/get  →  fabric DSDs + completion tasks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Each invariant is one pass — easy to test in isolation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Each pass has its own FileCheck file under mlir/test/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7200" y="6049320"/>
            <a:ext cx="11127120" cy="29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$ air-opt --csl-dataflow-to-csl  input.mlir  | air-translate --emit-csl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Pass 1/4:  -csl-materialize-dataflow-colors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Synthesizes a csl.color symbol for each csl_layout.dataflow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02336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390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200">
                <a:solidFill>
                  <a:srgbClr val="E9E3F5"/>
                </a:solidFill>
                <a:latin typeface="Consolas"/>
              </a:rPr>
              <a:t> {width=2, height=1} @layout {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csl_layout.dataflow</a:t>
            </a:r>
            <a:r>
              <a:rPr sz="1200">
                <a:solidFill>
                  <a:srgbClr val="E9E3F5"/>
                </a:solidFill>
                <a:latin typeface="Consolas"/>
              </a:rPr>
              <a:t> @send_ch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    </a:t>
            </a:r>
            <a:r>
              <a:rPr sz="1200">
                <a:solidFill>
                  <a:srgbClr val="E9E3F5"/>
                </a:solidFill>
                <a:latin typeface="Consolas"/>
              </a:rPr>
              <a:t>from(0, 0) to(1, 0)</a:t>
            </a:r>
          </a:p>
          <a:p>
            <a:pPr algn="l"/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200">
                <a:solidFill>
                  <a:srgbClr val="E9E3F5"/>
                </a:solidFill>
                <a:latin typeface="Consolas"/>
              </a:rPr>
              <a:t> @left  </a:t>
            </a:r>
            <a:r>
              <a:rPr sz="1200" b="1">
                <a:solidFill>
                  <a:srgbClr val="C4B5FD"/>
                </a:solidFill>
                <a:latin typeface="Consolas"/>
              </a:rPr>
              <a:t>at</a:t>
            </a:r>
            <a:r>
              <a:rPr sz="1200">
                <a:solidFill>
                  <a:srgbClr val="E9E3F5"/>
                </a:solidFill>
                <a:latin typeface="Consolas"/>
              </a:rPr>
              <a:t> (0, 0)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200">
                <a:solidFill>
                  <a:srgbClr val="E9E3F5"/>
                </a:solidFill>
                <a:latin typeface="Consolas"/>
              </a:rPr>
              <a:t> @right </a:t>
            </a:r>
            <a:r>
              <a:rPr sz="1200" b="1">
                <a:solidFill>
                  <a:srgbClr val="C4B5FD"/>
                </a:solidFill>
                <a:latin typeface="Consolas"/>
              </a:rPr>
              <a:t>at</a:t>
            </a:r>
            <a:r>
              <a:rPr sz="1200">
                <a:solidFill>
                  <a:srgbClr val="E9E3F5"/>
                </a:solidFill>
                <a:latin typeface="Consolas"/>
              </a:rPr>
              <a:t> (1, 0)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02336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390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200">
                <a:solidFill>
                  <a:srgbClr val="E9E3F5"/>
                </a:solidFill>
                <a:latin typeface="Consolas"/>
              </a:rPr>
              <a:t> {width=2, height=1} @layout {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csl.color</a:t>
            </a:r>
            <a:r>
              <a:rPr sz="1200">
                <a:solidFill>
                  <a:srgbClr val="E9E3F5"/>
                </a:solidFill>
                <a:latin typeface="Consolas"/>
              </a:rPr>
              <a:t> @send_ch       // ← synthesized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csl_layout.dataflow</a:t>
            </a:r>
            <a:r>
              <a:rPr sz="1200">
                <a:solidFill>
                  <a:srgbClr val="E9E3F5"/>
                </a:solidFill>
                <a:latin typeface="Consolas"/>
              </a:rPr>
              <a:t> @send_ch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    </a:t>
            </a:r>
            <a:r>
              <a:rPr sz="1200">
                <a:solidFill>
                  <a:srgbClr val="E9E3F5"/>
                </a:solidFill>
                <a:latin typeface="Consolas"/>
              </a:rPr>
              <a:t>from(0, 0) to(1, 0)</a:t>
            </a:r>
          </a:p>
          <a:p>
            <a:pPr algn="l"/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200">
                <a:solidFill>
                  <a:srgbClr val="E9E3F5"/>
                </a:solidFill>
                <a:latin typeface="Consolas"/>
              </a:rPr>
              <a:t> @left  </a:t>
            </a:r>
            <a:r>
              <a:rPr sz="1200" b="1">
                <a:solidFill>
                  <a:srgbClr val="C4B5FD"/>
                </a:solidFill>
                <a:latin typeface="Consolas"/>
              </a:rPr>
              <a:t>at</a:t>
            </a:r>
            <a:r>
              <a:rPr sz="1200">
                <a:solidFill>
                  <a:srgbClr val="E9E3F5"/>
                </a:solidFill>
                <a:latin typeface="Consolas"/>
              </a:rPr>
              <a:t> (0, 0)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200">
                <a:solidFill>
                  <a:srgbClr val="E9E3F5"/>
                </a:solidFill>
                <a:latin typeface="Consolas"/>
              </a:rPr>
              <a:t> @right </a:t>
            </a:r>
            <a:r>
              <a:rPr sz="1200" b="1">
                <a:solidFill>
                  <a:srgbClr val="C4B5FD"/>
                </a:solidFill>
                <a:latin typeface="Consolas"/>
              </a:rPr>
              <a:t>at</a:t>
            </a:r>
            <a:r>
              <a:rPr sz="1200">
                <a:solidFill>
                  <a:srgbClr val="E9E3F5"/>
                </a:solidFill>
                <a:latin typeface="Consolas"/>
              </a:rPr>
              <a:t> (1, 0)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Pass 2/4:  -csl-allocate-color-ids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Assigns a monotonic integer ID to every csl.color (0, 1, 2, …)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02336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390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200">
                <a:solidFill>
                  <a:srgbClr val="E9E3F5"/>
                </a:solidFill>
                <a:latin typeface="Consolas"/>
              </a:rPr>
              <a:t> @layout {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csl.color</a:t>
            </a:r>
            <a:r>
              <a:rPr sz="1200">
                <a:solidFill>
                  <a:srgbClr val="E9E3F5"/>
                </a:solidFill>
                <a:latin typeface="Consolas"/>
              </a:rPr>
              <a:t> @ch01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csl.color</a:t>
            </a:r>
            <a:r>
              <a:rPr sz="1200">
                <a:solidFill>
                  <a:srgbClr val="E9E3F5"/>
                </a:solidFill>
                <a:latin typeface="Consolas"/>
              </a:rPr>
              <a:t> @ch12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csl.color</a:t>
            </a:r>
            <a:r>
              <a:rPr sz="1200">
                <a:solidFill>
                  <a:srgbClr val="E9E3F5"/>
                </a:solidFill>
                <a:latin typeface="Consolas"/>
              </a:rPr>
              <a:t> @ch23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>
                <a:solidFill>
                  <a:srgbClr val="E9E3F5"/>
                </a:solidFill>
                <a:latin typeface="Consolas"/>
              </a:rPr>
              <a:t>...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02336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390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200">
                <a:solidFill>
                  <a:srgbClr val="E9E3F5"/>
                </a:solidFill>
                <a:latin typeface="Consolas"/>
              </a:rPr>
              <a:t> @layout {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csl.color</a:t>
            </a:r>
            <a:r>
              <a:rPr sz="1200">
                <a:solidFill>
                  <a:srgbClr val="E9E3F5"/>
                </a:solidFill>
                <a:latin typeface="Consolas"/>
              </a:rPr>
              <a:t> @ch01 { id = 0 : </a:t>
            </a:r>
            <a:r>
              <a:rPr sz="1200" b="1">
                <a:solidFill>
                  <a:srgbClr val="C4B5FD"/>
                </a:solidFill>
                <a:latin typeface="Consolas"/>
              </a:rPr>
              <a:t>i1</a:t>
            </a:r>
            <a:r>
              <a:rPr sz="1200">
                <a:solidFill>
                  <a:srgbClr val="E9E3F5"/>
                </a:solidFill>
                <a:latin typeface="Consolas"/>
              </a:rPr>
              <a:t>6 }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csl.color</a:t>
            </a:r>
            <a:r>
              <a:rPr sz="1200">
                <a:solidFill>
                  <a:srgbClr val="E9E3F5"/>
                </a:solidFill>
                <a:latin typeface="Consolas"/>
              </a:rPr>
              <a:t> @ch12 { id = 1 : </a:t>
            </a:r>
            <a:r>
              <a:rPr sz="1200" b="1">
                <a:solidFill>
                  <a:srgbClr val="C4B5FD"/>
                </a:solidFill>
                <a:latin typeface="Consolas"/>
              </a:rPr>
              <a:t>i1</a:t>
            </a:r>
            <a:r>
              <a:rPr sz="1200">
                <a:solidFill>
                  <a:srgbClr val="E9E3F5"/>
                </a:solidFill>
                <a:latin typeface="Consolas"/>
              </a:rPr>
              <a:t>6 }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 b="1">
                <a:solidFill>
                  <a:srgbClr val="C4B5FD"/>
                </a:solidFill>
                <a:latin typeface="Consolas"/>
              </a:rPr>
              <a:t>csl.color</a:t>
            </a:r>
            <a:r>
              <a:rPr sz="1200">
                <a:solidFill>
                  <a:srgbClr val="E9E3F5"/>
                </a:solidFill>
                <a:latin typeface="Consolas"/>
              </a:rPr>
              <a:t> @ch23 { id = 2 : </a:t>
            </a:r>
            <a:r>
              <a:rPr sz="1200" b="1">
                <a:solidFill>
                  <a:srgbClr val="C4B5FD"/>
                </a:solidFill>
                <a:latin typeface="Consolas"/>
              </a:rPr>
              <a:t>i1</a:t>
            </a:r>
            <a:r>
              <a:rPr sz="1200">
                <a:solidFill>
                  <a:srgbClr val="E9E3F5"/>
                </a:solidFill>
                <a:latin typeface="Consolas"/>
              </a:rPr>
              <a:t>6 }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  </a:t>
            </a:r>
            <a:r>
              <a:rPr sz="1200">
                <a:solidFill>
                  <a:srgbClr val="E9E3F5"/>
                </a:solidFill>
                <a:latin typeface="Consolas"/>
              </a:rPr>
              <a:t>...</a:t>
            </a:r>
          </a:p>
          <a:p>
            <a:pPr algn="l"/>
            <a:r>
              <a:rPr sz="12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Pass 3/4:  -csl-lower-dataflow-routing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Per-PE: emits csl_layout.set_color_config for each endpoint of every dataflow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Before  ·  edge-level dataflow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02336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390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100">
                <a:solidFill>
                  <a:srgbClr val="E9E3F5"/>
                </a:solidFill>
                <a:latin typeface="Consolas"/>
              </a:rPr>
              <a:t> @layout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csl.color</a:t>
            </a:r>
            <a:r>
              <a:rPr sz="1100">
                <a:solidFill>
                  <a:srgbClr val="E9E3F5"/>
                </a:solidFill>
                <a:latin typeface="Consolas"/>
              </a:rPr>
              <a:t> @send_ch { id = 0 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csl_layout.dataflow</a:t>
            </a:r>
            <a:r>
              <a:rPr sz="1100">
                <a:solidFill>
                  <a:srgbClr val="E9E3F5"/>
                </a:solidFill>
                <a:latin typeface="Consolas"/>
              </a:rPr>
              <a:t> @send_ch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from(0, 0) to(1,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@left 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(0, 0)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@right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(1, 0)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After  ·  per-PE routing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02336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390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100">
                <a:solidFill>
                  <a:srgbClr val="E9E3F5"/>
                </a:solidFill>
                <a:latin typeface="Consolas"/>
              </a:rPr>
              <a:t> @layout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csl.color</a:t>
            </a:r>
            <a:r>
              <a:rPr sz="1100">
                <a:solidFill>
                  <a:srgbClr val="E9E3F5"/>
                </a:solidFill>
                <a:latin typeface="Consolas"/>
              </a:rPr>
              <a:t> @send_ch { id = 0 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csl_layout.set_color_config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@left::@send_ch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{ </a:t>
            </a:r>
            <a:r>
              <a:rPr sz="1100" b="1">
                <a:solidFill>
                  <a:srgbClr val="C4B5FD"/>
                </a:solidFill>
                <a:latin typeface="Consolas"/>
              </a:rPr>
              <a:t>direction</a:t>
            </a:r>
            <a:r>
              <a:rPr sz="1100">
                <a:solidFill>
                  <a:srgbClr val="E9E3F5"/>
                </a:solidFill>
                <a:latin typeface="Consolas"/>
              </a:rPr>
              <a:t> = "out", </a:t>
            </a:r>
            <a:r>
              <a:rPr sz="1100" b="1">
                <a:solidFill>
                  <a:srgbClr val="C4B5FD"/>
                </a:solidFill>
                <a:latin typeface="Consolas"/>
              </a:rPr>
              <a:t>route</a:t>
            </a:r>
            <a:r>
              <a:rPr sz="1100">
                <a:solidFill>
                  <a:srgbClr val="E9E3F5"/>
                </a:solidFill>
                <a:latin typeface="Consolas"/>
              </a:rPr>
              <a:t> = "east" 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csl_layout.set_color_config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@right::@send_ch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{ </a:t>
            </a:r>
            <a:r>
              <a:rPr sz="1100" b="1">
                <a:solidFill>
                  <a:srgbClr val="C4B5FD"/>
                </a:solidFill>
                <a:latin typeface="Consolas"/>
              </a:rPr>
              <a:t>direction</a:t>
            </a:r>
            <a:r>
              <a:rPr sz="1100">
                <a:solidFill>
                  <a:srgbClr val="E9E3F5"/>
                </a:solidFill>
                <a:latin typeface="Consolas"/>
              </a:rPr>
              <a:t> = "in",  </a:t>
            </a:r>
            <a:r>
              <a:rPr sz="1100" b="1">
                <a:solidFill>
                  <a:srgbClr val="C4B5FD"/>
                </a:solidFill>
                <a:latin typeface="Consolas"/>
              </a:rPr>
              <a:t>route</a:t>
            </a:r>
            <a:r>
              <a:rPr sz="1100">
                <a:solidFill>
                  <a:srgbClr val="E9E3F5"/>
                </a:solidFill>
                <a:latin typeface="Consolas"/>
              </a:rPr>
              <a:t> = "west" 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@left 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(0, 0)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@right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(1, 0)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Pass 4/4:  -csl-lower-dataflow-data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Replaces dataflow.put/get with fabric DSDs + async @fmovs + completion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Before  ·  high-level stream 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02336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390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%n = </a:t>
            </a:r>
            <a:r>
              <a:rPr sz="1100" b="1">
                <a:solidFill>
                  <a:srgbClr val="C4B5FD"/>
                </a:solidFill>
                <a:latin typeface="Consolas"/>
              </a:rPr>
              <a:t>arith.constant</a:t>
            </a:r>
            <a:r>
              <a:rPr sz="1100">
                <a:solidFill>
                  <a:srgbClr val="E9E3F5"/>
                </a:solidFill>
                <a:latin typeface="Consolas"/>
              </a:rPr>
              <a:t> 128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csl.dataflow.put</a:t>
            </a:r>
            <a:r>
              <a:rPr sz="1100">
                <a:solidFill>
                  <a:srgbClr val="E9E3F5"/>
                </a:solidFill>
                <a:latin typeface="Consolas"/>
              </a:rPr>
              <a:t> @send_ch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source(%buf) extent(%n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&lt;128xf32&gt;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csl.return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After  ·  fabric DSD + async builtin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02336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390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%fd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csl.get_fab_dsd</a:t>
            </a:r>
            <a:r>
              <a:rPr sz="1100">
                <a:solidFill>
                  <a:srgbClr val="E9E3F5"/>
                </a:solidFill>
                <a:latin typeface="Consolas"/>
              </a:rPr>
              <a:t> @send_ch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direction</a:t>
            </a:r>
            <a:r>
              <a:rPr sz="1100">
                <a:solidFill>
                  <a:srgbClr val="E9E3F5"/>
                </a:solidFill>
                <a:latin typeface="Consolas"/>
              </a:rPr>
              <a:t> = "out" extent = 128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%md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csl.get_mem_dsd</a:t>
            </a:r>
            <a:r>
              <a:rPr sz="1100">
                <a:solidFill>
                  <a:srgbClr val="E9E3F5"/>
                </a:solidFill>
                <a:latin typeface="Consolas"/>
              </a:rPr>
              <a:t> %buf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&lt;128xf32&gt; -&gt; !csl.dsd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csl.builtin_call</a:t>
            </a:r>
            <a:r>
              <a:rPr sz="1100">
                <a:solidFill>
                  <a:srgbClr val="E9E3F5"/>
                </a:solidFill>
                <a:latin typeface="Consolas"/>
              </a:rPr>
              <a:t> "fmovs"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(%fd, %md) async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on_complete = @done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csl.return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csl.task</a:t>
            </a:r>
            <a:r>
              <a:rPr sz="1100">
                <a:solidFill>
                  <a:srgbClr val="E9E3F5"/>
                </a:solidFill>
                <a:latin typeface="Consolas"/>
              </a:rPr>
              <a:t> @done { ...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5.  Multi-PE milestones  ·  birds-eye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All green on the WSE-3 simulator — tests live in mlir/test/Targets/CSLEmit/e2e/multi_pe/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56232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Milestone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856232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1856232"/>
            <a:ext cx="38039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8" y="1856232"/>
            <a:ext cx="37124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Test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22199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2-PE 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221992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221992"/>
            <a:ext cx="3803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1-hop fabric stream east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8" y="2221992"/>
            <a:ext cx="3712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ping_2pe.mlir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1460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58775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ping W / N /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587752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587752"/>
            <a:ext cx="3803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directional + two-stream variant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2587752"/>
            <a:ext cx="3712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ping_2pe_west / north / south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95351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3-PE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953512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2953512"/>
            <a:ext cx="3803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multi-hop pass-through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2953512"/>
            <a:ext cx="3712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ping_3pe_chain.mlir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31927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4-PE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3319272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8768" y="3319272"/>
            <a:ext cx="3803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east-direction 4-hop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3319272"/>
            <a:ext cx="3712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chain_4pe_east.mlir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68503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2-row / 2-col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4368" y="3685032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≥4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58768" y="3685032"/>
            <a:ext cx="3803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east-west 2-row · N-S 2-col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8" y="3685032"/>
            <a:ext cx="3712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east_west_2row · north_south_2col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97764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05079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Fan-in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44368" y="4050792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8" y="4050792"/>
            <a:ext cx="3803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3 sources → 1 sink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8" y="4050792"/>
            <a:ext cx="3712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fanin_3src.mlir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441655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Relay (DMA)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4368" y="4416552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58768" y="4416552"/>
            <a:ext cx="3803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local_task_id completion task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8" y="4416552"/>
            <a:ext cx="3712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reduce_chain_4pe.mlir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478231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Relay (wavelet)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44368" y="4782312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58768" y="4782312"/>
            <a:ext cx="3803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@bind_data_task per wavelet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2128" y="4782312"/>
            <a:ext cx="3712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reduce_chain_4pe_wavelet.mlir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514807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X-parity branch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44368" y="5148072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58768" y="5148072"/>
            <a:ext cx="3803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get_x_coord + arith.select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2128" y="5148072"/>
            <a:ext cx="3712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reduce_chain_4pe_xparity.mlir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551383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GEMV tutorial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44368" y="5513832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1-N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58768" y="5513832"/>
            <a:ext cx="3803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alibri"/>
              </a:rPr>
              <a:t>6 tutorial stages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82128" y="5513832"/>
            <a:ext cx="3712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AF5FF"/>
                </a:solidFill>
                <a:latin typeface="Consolas"/>
              </a:rPr>
              <a:t>gemv-01 … gemv-06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8A1B8"/>
                </a:solidFill>
                <a:latin typeface="Calibri"/>
              </a:rPr>
              <a:t>Each milestone unlocked a new op or verifier path:  csl.task data_task · csl.dataflow.send_wavelet · csl.get_x_coord / get_y_coord · arith.select.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5a.  Example  ·  ping_2pe  (first inter-PE comm)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(0,0) sends 128 f32 east to (1,0)  ·  host asserts arg0 == arg1  ·  SUCCESS!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MLIR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csl.wafer</a:t>
            </a:r>
            <a:r>
              <a:rPr sz="1100">
                <a:solidFill>
                  <a:srgbClr val="E9E3F5"/>
                </a:solidFill>
                <a:latin typeface="Consolas"/>
              </a:rPr>
              <a:t> @ping_2pe {arch = "wse3"}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csl.program</a:t>
            </a:r>
            <a:r>
              <a:rPr sz="1100">
                <a:solidFill>
                  <a:srgbClr val="E9E3F5"/>
                </a:solidFill>
                <a:latin typeface="Consolas"/>
              </a:rPr>
              <a:t> @left_pe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%buf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csl.var</a:t>
            </a:r>
            <a:r>
              <a:rPr sz="1100">
                <a:solidFill>
                  <a:srgbClr val="E9E3F5"/>
                </a:solidFill>
                <a:latin typeface="Consolas"/>
              </a:rPr>
              <a:t> @buf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&lt;128xf32&gt;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%n = </a:t>
            </a:r>
            <a:r>
              <a:rPr sz="1100" b="1">
                <a:solidFill>
                  <a:srgbClr val="C4B5FD"/>
                </a:solidFill>
                <a:latin typeface="Consolas"/>
              </a:rPr>
              <a:t>arith.constant</a:t>
            </a:r>
            <a:r>
              <a:rPr sz="1100">
                <a:solidFill>
                  <a:srgbClr val="E9E3F5"/>
                </a:solidFill>
                <a:latin typeface="Consolas"/>
              </a:rPr>
              <a:t> 128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csl.dataflow.put</a:t>
            </a:r>
            <a:r>
              <a:rPr sz="1100">
                <a:solidFill>
                  <a:srgbClr val="E9E3F5"/>
                </a:solidFill>
                <a:latin typeface="Consolas"/>
              </a:rPr>
              <a:t> @send_ch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</a:t>
            </a:r>
            <a:r>
              <a:rPr sz="1100">
                <a:solidFill>
                  <a:srgbClr val="E9E3F5"/>
                </a:solidFill>
                <a:latin typeface="Consolas"/>
              </a:rPr>
              <a:t>source(%buf) extent(%n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csl.program</a:t>
            </a:r>
            <a:r>
              <a:rPr sz="1100">
                <a:solidFill>
                  <a:srgbClr val="E9E3F5"/>
                </a:solidFill>
                <a:latin typeface="Consolas"/>
              </a:rPr>
              <a:t> @right_pe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csl.dataflow.get</a:t>
            </a:r>
            <a:r>
              <a:rPr sz="1100">
                <a:solidFill>
                  <a:srgbClr val="E9E3F5"/>
                </a:solidFill>
                <a:latin typeface="Consolas"/>
              </a:rPr>
              <a:t> @send_ch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</a:t>
            </a:r>
            <a:r>
              <a:rPr sz="1100">
                <a:solidFill>
                  <a:srgbClr val="E9E3F5"/>
                </a:solidFill>
                <a:latin typeface="Consolas"/>
              </a:rPr>
              <a:t>target(%buf) extent(%n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100">
                <a:solidFill>
                  <a:srgbClr val="E9E3F5"/>
                </a:solidFill>
                <a:latin typeface="Consolas"/>
              </a:rPr>
              <a:t> {width=2, height=1} @layout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csl_layout.dataflow</a:t>
            </a:r>
            <a:r>
              <a:rPr sz="1100">
                <a:solidFill>
                  <a:srgbClr val="E9E3F5"/>
                </a:solidFill>
                <a:latin typeface="Consolas"/>
              </a:rPr>
              <a:t> @send_ch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</a:t>
            </a:r>
            <a:r>
              <a:rPr sz="1100">
                <a:solidFill>
                  <a:srgbClr val="E9E3F5"/>
                </a:solidFill>
                <a:latin typeface="Consolas"/>
              </a:rPr>
              <a:t>from(0, 0) to(1,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@left_pe 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(0, 0)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@right_pe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(1, 0)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Generated CSL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left_pe.csl  (sender)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buf: [128]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ch = @get_color(0);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fn</a:t>
            </a:r>
            <a:r>
              <a:rPr sz="1100">
                <a:solidFill>
                  <a:srgbClr val="E9E3F5"/>
                </a:solidFill>
                <a:latin typeface="Consolas"/>
              </a:rPr>
              <a:t> compute() </a:t>
            </a:r>
            <a:r>
              <a:rPr sz="1100" b="1">
                <a:solidFill>
                  <a:srgbClr val="C4B5FD"/>
                </a:solidFill>
                <a:latin typeface="Consolas"/>
              </a:rPr>
              <a:t>void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fd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fabout_dsd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.{.extent=128, .fabric_color=ch});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md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mem1d_dsd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.{.base_address=&amp;buf, .extent=128});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@fmovs</a:t>
            </a:r>
            <a:r>
              <a:rPr sz="1100">
                <a:solidFill>
                  <a:srgbClr val="E9E3F5"/>
                </a:solidFill>
                <a:latin typeface="Consolas"/>
              </a:rPr>
              <a:t>(fd, md, .{.async=true});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layout.csl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layout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@set_rectangle</a:t>
            </a:r>
            <a:r>
              <a:rPr sz="1100">
                <a:solidFill>
                  <a:srgbClr val="E9E3F5"/>
                </a:solidFill>
                <a:latin typeface="Consolas"/>
              </a:rPr>
              <a:t>(2, 1);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@set_color_config(0, 0, ch,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.{.routes={.tx=EAST,  .rx=RAMP}});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@set_color_config(1, 0, ch,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.{.routes={.tx=RAMP,  .rx=WEST}});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@set_tile_code</a:t>
            </a:r>
            <a:r>
              <a:rPr sz="1100">
                <a:solidFill>
                  <a:srgbClr val="E9E3F5"/>
                </a:solidFill>
                <a:latin typeface="Consolas"/>
              </a:rPr>
              <a:t>(0, 0, "left_pe.csl", ...);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@set_tile_code</a:t>
            </a:r>
            <a:r>
              <a:rPr sz="1100">
                <a:solidFill>
                  <a:srgbClr val="E9E3F5"/>
                </a:solidFill>
                <a:latin typeface="Consolas"/>
              </a:rPr>
              <a:t>(1, 0, "right_pe.csl", ...);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5b.  Example  ·  ping_3pe_chain  (multi-hop fabric routing)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P0 sends; P1 forwards at fabric level; P2 receives.  Three programs, one color.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MLIR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100">
                <a:solidFill>
                  <a:srgbClr val="E9E3F5"/>
                </a:solidFill>
                <a:latin typeface="Consolas"/>
              </a:rPr>
              <a:t> {width=3, height=1} @layout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csl_layout.dataflow</a:t>
            </a:r>
            <a:r>
              <a:rPr sz="1100">
                <a:solidFill>
                  <a:srgbClr val="E9E3F5"/>
                </a:solidFill>
                <a:latin typeface="Consolas"/>
              </a:rPr>
              <a:t> @ch from(0,0) to(2,0)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@p0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(0, 0)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@p1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(1, 0)  // pass-through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@p2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(2, 0)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csl.program</a:t>
            </a:r>
            <a:r>
              <a:rPr sz="1100">
                <a:solidFill>
                  <a:srgbClr val="E9E3F5"/>
                </a:solidFill>
                <a:latin typeface="Consolas"/>
              </a:rPr>
              <a:t> @p0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csl.dataflow.put</a:t>
            </a:r>
            <a:r>
              <a:rPr sz="1100">
                <a:solidFill>
                  <a:srgbClr val="E9E3F5"/>
                </a:solidFill>
                <a:latin typeface="Consolas"/>
              </a:rPr>
              <a:t> @ch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</a:t>
            </a:r>
            <a:r>
              <a:rPr sz="1100">
                <a:solidFill>
                  <a:srgbClr val="E9E3F5"/>
                </a:solidFill>
                <a:latin typeface="Consolas"/>
              </a:rPr>
              <a:t>source(%buf) extent(%n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P2 receives — P1 has no dataflow code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csl.program</a:t>
            </a:r>
            <a:r>
              <a:rPr sz="1100">
                <a:solidFill>
                  <a:srgbClr val="E9E3F5"/>
                </a:solidFill>
                <a:latin typeface="Consolas"/>
              </a:rPr>
              <a:t> @p2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csl.dataflow.get</a:t>
            </a:r>
            <a:r>
              <a:rPr sz="1100">
                <a:solidFill>
                  <a:srgbClr val="E9E3F5"/>
                </a:solidFill>
                <a:latin typeface="Consolas"/>
              </a:rPr>
              <a:t> @ch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</a:t>
            </a:r>
            <a:r>
              <a:rPr sz="1100">
                <a:solidFill>
                  <a:srgbClr val="E9E3F5"/>
                </a:solidFill>
                <a:latin typeface="Consolas"/>
              </a:rPr>
              <a:t>target(%buf) extent(%n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Generated CSL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layout.csl  — routing handles the hop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layout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@set_rectangle</a:t>
            </a:r>
            <a:r>
              <a:rPr sz="1100">
                <a:solidFill>
                  <a:srgbClr val="E9E3F5"/>
                </a:solidFill>
                <a:latin typeface="Consolas"/>
              </a:rPr>
              <a:t>(3, 1);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@set_color_config(0, 0, ch,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.{.routes={.tx=EAST}});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@set_color_config(1, 0, ch,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.{.routes={.rx=WEST, .tx=EAST}});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@set_color_config(2, 0, ch,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.{.routes={.rx=WEST, .tx=RAMP}});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@set_tile_code</a:t>
            </a:r>
            <a:r>
              <a:rPr sz="1100">
                <a:solidFill>
                  <a:srgbClr val="E9E3F5"/>
                </a:solidFill>
                <a:latin typeface="Consolas"/>
              </a:rPr>
              <a:t>(0, 0, "p0.csl", ...);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@set_tile_code</a:t>
            </a:r>
            <a:r>
              <a:rPr sz="1100">
                <a:solidFill>
                  <a:srgbClr val="E9E3F5"/>
                </a:solidFill>
                <a:latin typeface="Consolas"/>
              </a:rPr>
              <a:t>(1, 0, "p1.csl", ...);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@set_tile_code</a:t>
            </a:r>
            <a:r>
              <a:rPr sz="1100">
                <a:solidFill>
                  <a:srgbClr val="E9E3F5"/>
                </a:solidFill>
                <a:latin typeface="Consolas"/>
              </a:rPr>
              <a:t>(2, 0, "p2.csl", ...);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p1.csl  — relay PE</a:t>
            </a:r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no compute body; fabric forwards</a:t>
            </a:r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because .rx=WEST, .tx=EAST.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fn</a:t>
            </a:r>
            <a:r>
              <a:rPr sz="1100">
                <a:solidFill>
                  <a:srgbClr val="E9E3F5"/>
                </a:solidFill>
                <a:latin typeface="Consolas"/>
              </a:rPr>
              <a:t> compute() </a:t>
            </a:r>
            <a:r>
              <a:rPr sz="1100" b="1">
                <a:solidFill>
                  <a:srgbClr val="C4B5FD"/>
                </a:solidFill>
                <a:latin typeface="Consolas"/>
              </a:rPr>
              <a:t>void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sys.unblock_cmd_stream();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5c.  Example  ·  fanin_3src  (3 sources → 1 sink)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Three separate dataflow streams all terminate at the same sink PE — three colors, three fabric DSDs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MLIR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100">
                <a:solidFill>
                  <a:srgbClr val="E9E3F5"/>
                </a:solidFill>
                <a:latin typeface="Consolas"/>
              </a:rPr>
              <a:t> {width=4, height=1} @layout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csl_layout.dataflow</a:t>
            </a:r>
            <a:r>
              <a:rPr sz="1100">
                <a:solidFill>
                  <a:srgbClr val="E9E3F5"/>
                </a:solidFill>
                <a:latin typeface="Consolas"/>
              </a:rPr>
              <a:t> @ch_a from(0,0) to(3,0)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csl_layout.dataflow</a:t>
            </a:r>
            <a:r>
              <a:rPr sz="1100">
                <a:solidFill>
                  <a:srgbClr val="E9E3F5"/>
                </a:solidFill>
                <a:latin typeface="Consolas"/>
              </a:rPr>
              <a:t> @ch_b from(1,0) to(3,0)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csl_layout.dataflow</a:t>
            </a:r>
            <a:r>
              <a:rPr sz="1100">
                <a:solidFill>
                  <a:srgbClr val="E9E3F5"/>
                </a:solidFill>
                <a:latin typeface="Consolas"/>
              </a:rPr>
              <a:t> @ch_c from(2,0) to(3,0)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@src_a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(0, 0)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@src_b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(1, 0)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@src_c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(2, 0)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@sink 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 (3, 0)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csl.program</a:t>
            </a:r>
            <a:r>
              <a:rPr sz="1100">
                <a:solidFill>
                  <a:srgbClr val="E9E3F5"/>
                </a:solidFill>
                <a:latin typeface="Consolas"/>
              </a:rPr>
              <a:t> @sink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csl.dataflow.get</a:t>
            </a:r>
            <a:r>
              <a:rPr sz="1100">
                <a:solidFill>
                  <a:srgbClr val="E9E3F5"/>
                </a:solidFill>
                <a:latin typeface="Consolas"/>
              </a:rPr>
              <a:t> @ch_a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</a:t>
            </a:r>
            <a:r>
              <a:rPr sz="1100">
                <a:solidFill>
                  <a:srgbClr val="E9E3F5"/>
                </a:solidFill>
                <a:latin typeface="Consolas"/>
              </a:rPr>
              <a:t>target(%buf_a) extent(%n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csl.dataflow.get</a:t>
            </a:r>
            <a:r>
              <a:rPr sz="1100">
                <a:solidFill>
                  <a:srgbClr val="E9E3F5"/>
                </a:solidFill>
                <a:latin typeface="Consolas"/>
              </a:rPr>
              <a:t> @ch_b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</a:t>
            </a:r>
            <a:r>
              <a:rPr sz="1100">
                <a:solidFill>
                  <a:srgbClr val="E9E3F5"/>
                </a:solidFill>
                <a:latin typeface="Consolas"/>
              </a:rPr>
              <a:t>target(%buf_b) extent(%n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csl.dataflow.get</a:t>
            </a:r>
            <a:r>
              <a:rPr sz="1100">
                <a:solidFill>
                  <a:srgbClr val="E9E3F5"/>
                </a:solidFill>
                <a:latin typeface="Consolas"/>
              </a:rPr>
              <a:t> @ch_c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</a:t>
            </a:r>
            <a:r>
              <a:rPr sz="1100">
                <a:solidFill>
                  <a:srgbClr val="E9E3F5"/>
                </a:solidFill>
                <a:latin typeface="Consolas"/>
              </a:rPr>
              <a:t>target(%buf_c) extent(%n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Generated CSL  (sink PE)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sink.csl  (PE 3, 0)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buf_a: [N]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buf_b: [N]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buf_c: [N]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ch_a = @get_color(0);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ch_b = @get_color(1);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ch_c = @get_color(2);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fn</a:t>
            </a:r>
            <a:r>
              <a:rPr sz="1100">
                <a:solidFill>
                  <a:srgbClr val="E9E3F5"/>
                </a:solidFill>
                <a:latin typeface="Consolas"/>
              </a:rPr>
              <a:t> compute() </a:t>
            </a:r>
            <a:r>
              <a:rPr sz="1100" b="1">
                <a:solidFill>
                  <a:srgbClr val="C4B5FD"/>
                </a:solidFill>
                <a:latin typeface="Consolas"/>
              </a:rPr>
              <a:t>void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fda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fabin_dsd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.{.fabric_color=ch_a, .extent=N});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@fmovs</a:t>
            </a:r>
            <a:r>
              <a:rPr sz="1100">
                <a:solidFill>
                  <a:srgbClr val="E9E3F5"/>
                </a:solidFill>
                <a:latin typeface="Consolas"/>
              </a:rPr>
              <a:t>(da, fda, .{.async=true});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fdb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fabin_dsd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.{.fabric_color=ch_b, .extent=N});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@fmovs</a:t>
            </a:r>
            <a:r>
              <a:rPr sz="1100">
                <a:solidFill>
                  <a:srgbClr val="E9E3F5"/>
                </a:solidFill>
                <a:latin typeface="Consolas"/>
              </a:rPr>
              <a:t>(db, fdb, .{.async=true});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fdc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fabin_dsd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.{.fabric_color=ch_c, .extent=N});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@fmovs</a:t>
            </a:r>
            <a:r>
              <a:rPr sz="1100">
                <a:solidFill>
                  <a:srgbClr val="E9E3F5"/>
                </a:solidFill>
                <a:latin typeface="Consolas"/>
              </a:rPr>
              <a:t>(dc, fdc, .{.async=true});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5d.  Example  ·  reduce_chain_4pe  (DMA relay)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Middle PEs receive whole buffer, compute, then PUT — wake-up via local_task_id completion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MLIR  (relay PE)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P1: receive 64 f32, subtract 100,</a:t>
            </a:r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    forward to P2.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csl.program</a:t>
            </a:r>
            <a:r>
              <a:rPr sz="1100">
                <a:solidFill>
                  <a:srgbClr val="E9E3F5"/>
                </a:solidFill>
                <a:latin typeface="Consolas"/>
              </a:rPr>
              <a:t> @p1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%buf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csl.var</a:t>
            </a:r>
            <a:r>
              <a:rPr sz="1100">
                <a:solidFill>
                  <a:srgbClr val="E9E3F5"/>
                </a:solidFill>
                <a:latin typeface="Consolas"/>
              </a:rPr>
              <a:t> @buf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&lt;64xf32&gt;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csl.dataflow.get</a:t>
            </a:r>
            <a:r>
              <a:rPr sz="1100">
                <a:solidFill>
                  <a:srgbClr val="E9E3F5"/>
                </a:solidFill>
                <a:latin typeface="Consolas"/>
              </a:rPr>
              <a:t> @ch01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target(%buf) extent(%n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on_complete = @step2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csl.task</a:t>
            </a:r>
            <a:r>
              <a:rPr sz="1100">
                <a:solidFill>
                  <a:srgbClr val="E9E3F5"/>
                </a:solidFill>
                <a:latin typeface="Consolas"/>
              </a:rPr>
              <a:t> @step2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tributes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{</a:t>
            </a:r>
            <a:r>
              <a:rPr sz="1100" b="1">
                <a:solidFill>
                  <a:srgbClr val="C4B5FD"/>
                </a:solidFill>
                <a:latin typeface="Consolas"/>
              </a:rPr>
              <a:t>trigger_kind</a:t>
            </a:r>
            <a:r>
              <a:rPr sz="1100">
                <a:solidFill>
                  <a:srgbClr val="E9E3F5"/>
                </a:solidFill>
                <a:latin typeface="Consolas"/>
              </a:rPr>
              <a:t>="</a:t>
            </a:r>
            <a:r>
              <a:rPr sz="1100" b="1">
                <a:solidFill>
                  <a:srgbClr val="C4B5FD"/>
                </a:solidFill>
                <a:latin typeface="Consolas"/>
              </a:rPr>
              <a:t>local_task_id</a:t>
            </a:r>
            <a:r>
              <a:rPr sz="1100">
                <a:solidFill>
                  <a:srgbClr val="E9E3F5"/>
                </a:solidFill>
                <a:latin typeface="Consolas"/>
              </a:rPr>
              <a:t>",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</a:t>
            </a:r>
            <a:r>
              <a:rPr sz="1100">
                <a:solidFill>
                  <a:srgbClr val="E9E3F5"/>
                </a:solidFill>
                <a:latin typeface="Consolas"/>
              </a:rPr>
              <a:t>id = 1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i1</a:t>
            </a:r>
            <a:r>
              <a:rPr sz="1100">
                <a:solidFill>
                  <a:srgbClr val="E9E3F5"/>
                </a:solidFill>
                <a:latin typeface="Consolas"/>
              </a:rPr>
              <a:t>6}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scf.for</a:t>
            </a:r>
            <a:r>
              <a:rPr sz="1100">
                <a:solidFill>
                  <a:srgbClr val="E9E3F5"/>
                </a:solidFill>
                <a:latin typeface="Consolas"/>
              </a:rPr>
              <a:t> %i = %c0 to %c64 step %c1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%v  =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memref.load</a:t>
            </a:r>
            <a:r>
              <a:rPr sz="1100">
                <a:solidFill>
                  <a:srgbClr val="E9E3F5"/>
                </a:solidFill>
                <a:latin typeface="Consolas"/>
              </a:rPr>
              <a:t> %buf[%i]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%nv = </a:t>
            </a:r>
            <a:r>
              <a:rPr sz="1100" b="1">
                <a:solidFill>
                  <a:srgbClr val="C4B5FD"/>
                </a:solidFill>
                <a:latin typeface="Consolas"/>
              </a:rPr>
              <a:t>arith.subf</a:t>
            </a:r>
            <a:r>
              <a:rPr sz="1100">
                <a:solidFill>
                  <a:srgbClr val="E9E3F5"/>
                </a:solidFill>
                <a:latin typeface="Consolas"/>
              </a:rPr>
              <a:t> %v, %hundred : 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memref.store</a:t>
            </a:r>
            <a:r>
              <a:rPr sz="1100">
                <a:solidFill>
                  <a:srgbClr val="E9E3F5"/>
                </a:solidFill>
                <a:latin typeface="Consolas"/>
              </a:rPr>
              <a:t> %nv, %buf[%i]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csl.dataflow.put</a:t>
            </a:r>
            <a:r>
              <a:rPr sz="1100">
                <a:solidFill>
                  <a:srgbClr val="E9E3F5"/>
                </a:solidFill>
                <a:latin typeface="Consolas"/>
              </a:rPr>
              <a:t> @ch12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source(%buf) extent(%n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csl.return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Generated CSL  (p1.csl)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buf: [64]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ch01 = @get_color(0);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ch12 = @get_color(1);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fn</a:t>
            </a:r>
            <a:r>
              <a:rPr sz="1100">
                <a:solidFill>
                  <a:srgbClr val="E9E3F5"/>
                </a:solidFill>
                <a:latin typeface="Consolas"/>
              </a:rPr>
              <a:t> compute() </a:t>
            </a:r>
            <a:r>
              <a:rPr sz="1100" b="1">
                <a:solidFill>
                  <a:srgbClr val="C4B5FD"/>
                </a:solidFill>
                <a:latin typeface="Consolas"/>
              </a:rPr>
              <a:t>void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716B82"/>
                </a:solidFill>
                <a:latin typeface="Consolas"/>
              </a:rPr>
              <a:t>// GET → step2 fires on completion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fd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fabin_dsd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.{.fabric_color=ch01, .extent=64});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md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mem1d_dsd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.{.base_address=&amp;buf, .extent=64});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@fmovs</a:t>
            </a:r>
            <a:r>
              <a:rPr sz="1100">
                <a:solidFill>
                  <a:srgbClr val="E9E3F5"/>
                </a:solidFill>
                <a:latin typeface="Consolas"/>
              </a:rPr>
              <a:t>(md, fd,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.{.async=true, .activate=step2});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task step2() </a:t>
            </a:r>
            <a:r>
              <a:rPr sz="1100" b="1">
                <a:solidFill>
                  <a:srgbClr val="C4B5FD"/>
                </a:solidFill>
                <a:latin typeface="Consolas"/>
              </a:rPr>
              <a:t>void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for (i in 0..64) buf[i] -= 100.0;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fd2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fabout_dsd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.{.fabric_color=ch12, .extent=64});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@fmovs</a:t>
            </a:r>
            <a:r>
              <a:rPr sz="1100">
                <a:solidFill>
                  <a:srgbClr val="E9E3F5"/>
                </a:solidFill>
                <a:latin typeface="Consolas"/>
              </a:rPr>
              <a:t>(fd2, md, .{.async=true});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comptime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@bind_local_task(step2,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@get_local_task_id(1));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5e.  Example  ·  reduce_chain_4pe_wavelet  (per-wavelet data task)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Native CSL data task fires once per arriving wavelet — simpler and cheaper than DMA relay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MLIR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P1: fires per wavelet on @ch01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csl.program</a:t>
            </a:r>
            <a:r>
              <a:rPr sz="1100">
                <a:solidFill>
                  <a:srgbClr val="E9E3F5"/>
                </a:solidFill>
                <a:latin typeface="Consolas"/>
              </a:rPr>
              <a:t> @p1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csl.task</a:t>
            </a:r>
            <a:r>
              <a:rPr sz="1100">
                <a:solidFill>
                  <a:srgbClr val="E9E3F5"/>
                </a:solidFill>
                <a:latin typeface="Consolas"/>
              </a:rPr>
              <a:t> @relay </a:t>
            </a:r>
            <a:r>
              <a:rPr sz="1100" b="1">
                <a:solidFill>
                  <a:srgbClr val="C4B5FD"/>
                </a:solidFill>
                <a:latin typeface="Consolas"/>
              </a:rPr>
              <a:t>at</a:t>
            </a:r>
            <a:r>
              <a:rPr sz="1100">
                <a:solidFill>
                  <a:srgbClr val="E9E3F5"/>
                </a:solidFill>
                <a:latin typeface="Consolas"/>
              </a:rPr>
              <a:t>tributes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{</a:t>
            </a:r>
            <a:r>
              <a:rPr sz="1100" b="1">
                <a:solidFill>
                  <a:srgbClr val="C4B5FD"/>
                </a:solidFill>
                <a:latin typeface="Consolas"/>
              </a:rPr>
              <a:t>trigger_kind</a:t>
            </a:r>
            <a:r>
              <a:rPr sz="1100">
                <a:solidFill>
                  <a:srgbClr val="E9E3F5"/>
                </a:solidFill>
                <a:latin typeface="Consolas"/>
              </a:rPr>
              <a:t>="</a:t>
            </a:r>
            <a:r>
              <a:rPr sz="1100" b="1">
                <a:solidFill>
                  <a:srgbClr val="C4B5FD"/>
                </a:solidFill>
                <a:latin typeface="Consolas"/>
              </a:rPr>
              <a:t>data_task</a:t>
            </a:r>
            <a:r>
              <a:rPr sz="1100">
                <a:solidFill>
                  <a:srgbClr val="E9E3F5"/>
                </a:solidFill>
                <a:latin typeface="Consolas"/>
              </a:rPr>
              <a:t>",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color</a:t>
            </a:r>
            <a:r>
              <a:rPr sz="1100">
                <a:solidFill>
                  <a:srgbClr val="E9E3F5"/>
                </a:solidFill>
                <a:latin typeface="Consolas"/>
              </a:rPr>
              <a:t> = @ch01}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^bb0(%val: 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):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%delta = </a:t>
            </a:r>
            <a:r>
              <a:rPr sz="1100" b="1">
                <a:solidFill>
                  <a:srgbClr val="C4B5FD"/>
                </a:solidFill>
                <a:latin typeface="Consolas"/>
              </a:rPr>
              <a:t>arith.constant</a:t>
            </a:r>
            <a:r>
              <a:rPr sz="1100">
                <a:solidFill>
                  <a:srgbClr val="E9E3F5"/>
                </a:solidFill>
                <a:latin typeface="Consolas"/>
              </a:rPr>
              <a:t> -100.0 : 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%nv = </a:t>
            </a:r>
            <a:r>
              <a:rPr sz="1100" b="1">
                <a:solidFill>
                  <a:srgbClr val="C4B5FD"/>
                </a:solidFill>
                <a:latin typeface="Consolas"/>
              </a:rPr>
              <a:t>arith.addf</a:t>
            </a:r>
            <a:r>
              <a:rPr sz="1100">
                <a:solidFill>
                  <a:srgbClr val="E9E3F5"/>
                </a:solidFill>
                <a:latin typeface="Consolas"/>
              </a:rPr>
              <a:t> %val, %delta : 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csl.dataflow.send_wavelet</a:t>
            </a:r>
            <a:r>
              <a:rPr sz="1100">
                <a:solidFill>
                  <a:srgbClr val="E9E3F5"/>
                </a:solidFill>
                <a:latin typeface="Consolas"/>
              </a:rPr>
              <a:t> @ch12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</a:t>
            </a:r>
            <a:r>
              <a:rPr sz="1100">
                <a:solidFill>
                  <a:srgbClr val="E9E3F5"/>
                </a:solidFill>
                <a:latin typeface="Consolas"/>
              </a:rPr>
              <a:t>value(%nv) : 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csl.return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100">
                <a:solidFill>
                  <a:srgbClr val="E9E3F5"/>
                </a:solidFill>
                <a:latin typeface="Consolas"/>
              </a:rPr>
              <a:t> {width=4, height=1} @layout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csl_layout.dataflow</a:t>
            </a:r>
            <a:r>
              <a:rPr sz="1100">
                <a:solidFill>
                  <a:srgbClr val="E9E3F5"/>
                </a:solidFill>
                <a:latin typeface="Consolas"/>
              </a:rPr>
              <a:t> @ch01 from(0,0) to(1,0)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csl_layout.dataflow</a:t>
            </a:r>
            <a:r>
              <a:rPr sz="1100">
                <a:solidFill>
                  <a:srgbClr val="E9E3F5"/>
                </a:solidFill>
                <a:latin typeface="Consolas"/>
              </a:rPr>
              <a:t> @ch12 from(1,0) to(2,0)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csl_layout.dataflow</a:t>
            </a:r>
            <a:r>
              <a:rPr sz="1100">
                <a:solidFill>
                  <a:srgbClr val="E9E3F5"/>
                </a:solidFill>
                <a:latin typeface="Consolas"/>
              </a:rPr>
              <a:t> @ch23 from(2,0) to(3,0)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Generated CSL  (p1.csl)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ch01 = @get_color(0);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ch12 = @get_color(1);</a:t>
            </a:r>
          </a:p>
          <a:p>
            <a:pPr algn="l"/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fires once per arriving wavelet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task relay(val: 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) </a:t>
            </a:r>
            <a:r>
              <a:rPr sz="1100" b="1">
                <a:solidFill>
                  <a:srgbClr val="C4B5FD"/>
                </a:solidFill>
                <a:latin typeface="Consolas"/>
              </a:rPr>
              <a:t>void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nv = val + (-100.0);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fd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fabout_dsd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.{.fabric_color=ch12, .extent=1});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@fmovs</a:t>
            </a:r>
            <a:r>
              <a:rPr sz="1100">
                <a:solidFill>
                  <a:srgbClr val="E9E3F5"/>
                </a:solidFill>
                <a:latin typeface="Consolas"/>
              </a:rPr>
              <a:t>(fd, nv, .{.async=true});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comptime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@bind_data_task</a:t>
            </a:r>
            <a:r>
              <a:rPr sz="1100">
                <a:solidFill>
                  <a:srgbClr val="E9E3F5"/>
                </a:solidFill>
                <a:latin typeface="Consolas"/>
              </a:rPr>
              <a:t>(relay, ch01);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no fn compute() needed —</a:t>
            </a:r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the data task fires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5f.  GEMV tutorial  ·  six progressive kernels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y = A·x + b  ·  same problem, each stage adds one capability — mirrors the official Cerebras SDK GEMV tutorial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338560" cy="438912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56232"/>
            <a:ext cx="11521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1856232"/>
            <a:ext cx="38039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1888" y="1856232"/>
            <a:ext cx="57241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Adds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21992"/>
            <a:ext cx="11338560" cy="43891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gemv-01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2295144"/>
            <a:ext cx="38039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gemv-01-complete-program.mlir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295144"/>
            <a:ext cx="5724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1-PE scalar GEMV  ·  PE self-initializes A, x,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60904"/>
            <a:ext cx="11338560" cy="438912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734056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gemv-02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" y="2734056"/>
            <a:ext cx="38039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gemv-02-memory-dsds.mlir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734056"/>
            <a:ext cx="5724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memory DSDs  ·  strided A col  ·  @fmacs / @fadds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99816"/>
            <a:ext cx="11338560" cy="43891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172968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gemv-03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3172968"/>
            <a:ext cx="38039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gemv-03-memcpy.mlir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3172968"/>
            <a:ext cx="5724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host owns the data  ·  memcpy_h2d for A / x / 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38728"/>
            <a:ext cx="11338560" cy="438912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611880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gemv-04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8528" y="3611880"/>
            <a:ext cx="38039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gemv-04-params.mlir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888" y="3611880"/>
            <a:ext cx="5724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compile-time M / N (param) — captured as constants today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77640"/>
            <a:ext cx="11338560" cy="438912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050792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gemv-05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4050792"/>
            <a:ext cx="38039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gemv-05-multiple-pes.mlir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1888" y="4050792"/>
            <a:ext cx="5724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1×2 PE grid  ·  column partition (N_per_PE = 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416552"/>
            <a:ext cx="11338560" cy="438912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489704"/>
            <a:ext cx="1152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gemv-06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4489704"/>
            <a:ext cx="38039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gemv-06-routes-1.mlir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4489704"/>
            <a:ext cx="5724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inter-PE fabric  ·  csl.dataflow.put/get + add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Why GEMV as the tutorial?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Smallest non-trivial dense kernel that exercises every layer of the stack.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7DD3FC"/>
                </a:solidFill>
                <a:latin typeface="Calibri"/>
              </a:rPr>
              <a:t>▸  </a:t>
            </a:r>
            <a:r>
              <a:rPr sz="1200">
                <a:solidFill>
                  <a:srgbClr val="FAF5FF"/>
                </a:solidFill>
                <a:latin typeface="Calibri"/>
              </a:rPr>
              <a:t>Each stage is one FileCheck file under  mlir/test/Targets/CSLEmit/e2e/tutorials/.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5f-1.  gemv-01  ·  complete program (scalar, 1 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y[i] = Σⱼ A[i·N + j] · x[j] + b[i]   (M = 4, N = 6)  ·  PE self-initializes all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MLIR  (nested scf.for)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@init_and_compute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716B82"/>
                </a:solidFill>
                <a:latin typeface="Consolas"/>
              </a:rPr>
              <a:t>// y[i] = sum_j A[i*N + j] * x[j]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scf.for</a:t>
            </a:r>
            <a:r>
              <a:rPr sz="1100">
                <a:solidFill>
                  <a:srgbClr val="E9E3F5"/>
                </a:solidFill>
                <a:latin typeface="Consolas"/>
              </a:rPr>
              <a:t> %i = %c0 to %m step %c1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scf.for</a:t>
            </a:r>
            <a:r>
              <a:rPr sz="1100">
                <a:solidFill>
                  <a:srgbClr val="E9E3F5"/>
                </a:solidFill>
                <a:latin typeface="Consolas"/>
              </a:rPr>
              <a:t> %j = %c0 to %n step %c1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%iN  = arith.muli %i, %n  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%iNj = arith.addi %iN, %j 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%aij =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memref.load</a:t>
            </a:r>
            <a:r>
              <a:rPr sz="1100">
                <a:solidFill>
                  <a:srgbClr val="E9E3F5"/>
                </a:solidFill>
                <a:latin typeface="Consolas"/>
              </a:rPr>
              <a:t> %A[%iNj]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%xj  =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memref.load</a:t>
            </a:r>
            <a:r>
              <a:rPr sz="1100">
                <a:solidFill>
                  <a:srgbClr val="E9E3F5"/>
                </a:solidFill>
                <a:latin typeface="Consolas"/>
              </a:rPr>
              <a:t> %x[%j]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%p   = </a:t>
            </a:r>
            <a:r>
              <a:rPr sz="1100" b="1">
                <a:solidFill>
                  <a:srgbClr val="C4B5FD"/>
                </a:solidFill>
                <a:latin typeface="Consolas"/>
              </a:rPr>
              <a:t>arith.mulf</a:t>
            </a:r>
            <a:r>
              <a:rPr sz="1100">
                <a:solidFill>
                  <a:srgbClr val="E9E3F5"/>
                </a:solidFill>
                <a:latin typeface="Consolas"/>
              </a:rPr>
              <a:t> %aij, %xj : 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%yi  =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memref.load</a:t>
            </a:r>
            <a:r>
              <a:rPr sz="1100">
                <a:solidFill>
                  <a:srgbClr val="E9E3F5"/>
                </a:solidFill>
                <a:latin typeface="Consolas"/>
              </a:rPr>
              <a:t> %y[%i]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%s   = </a:t>
            </a:r>
            <a:r>
              <a:rPr sz="1100" b="1">
                <a:solidFill>
                  <a:srgbClr val="C4B5FD"/>
                </a:solidFill>
                <a:latin typeface="Consolas"/>
              </a:rPr>
              <a:t>arith.addf</a:t>
            </a:r>
            <a:r>
              <a:rPr sz="1100">
                <a:solidFill>
                  <a:srgbClr val="E9E3F5"/>
                </a:solidFill>
                <a:latin typeface="Consolas"/>
              </a:rPr>
              <a:t> %yi, %p : 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memref.store</a:t>
            </a:r>
            <a:r>
              <a:rPr sz="1100">
                <a:solidFill>
                  <a:srgbClr val="E9E3F5"/>
                </a:solidFill>
                <a:latin typeface="Consolas"/>
              </a:rPr>
              <a:t> %s, %y[%i]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716B82"/>
                </a:solidFill>
                <a:latin typeface="Consolas"/>
              </a:rPr>
              <a:t>// y[i] += b[i]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...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csl.return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Generated CSL  (pe.csl)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A: [24]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x: [6]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b: [4]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y: [4]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fn</a:t>
            </a:r>
            <a:r>
              <a:rPr sz="1100">
                <a:solidFill>
                  <a:srgbClr val="E9E3F5"/>
                </a:solidFill>
                <a:latin typeface="Consolas"/>
              </a:rPr>
              <a:t> init_and_compute() </a:t>
            </a:r>
            <a:r>
              <a:rPr sz="1100" b="1">
                <a:solidFill>
                  <a:srgbClr val="C4B5FD"/>
                </a:solidFill>
                <a:latin typeface="Consolas"/>
              </a:rPr>
              <a:t>void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716B82"/>
                </a:solidFill>
                <a:latin typeface="Consolas"/>
              </a:rPr>
              <a:t>// ... init A=1, x=2, b=3, y=0 ...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i: </a:t>
            </a:r>
            <a:r>
              <a:rPr sz="1100" b="1">
                <a:solidFill>
                  <a:srgbClr val="C4B5FD"/>
                </a:solidFill>
                <a:latin typeface="Consolas"/>
              </a:rPr>
              <a:t>u16</a:t>
            </a:r>
            <a:r>
              <a:rPr sz="1100">
                <a:solidFill>
                  <a:srgbClr val="E9E3F5"/>
                </a:solidFill>
                <a:latin typeface="Consolas"/>
              </a:rPr>
              <a:t> = 0;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while</a:t>
            </a:r>
            <a:r>
              <a:rPr sz="1100">
                <a:solidFill>
                  <a:srgbClr val="E9E3F5"/>
                </a:solidFill>
                <a:latin typeface="Consolas"/>
              </a:rPr>
              <a:t> (i &lt; 4) : (i += 1)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j: </a:t>
            </a:r>
            <a:r>
              <a:rPr sz="1100" b="1">
                <a:solidFill>
                  <a:srgbClr val="C4B5FD"/>
                </a:solidFill>
                <a:latin typeface="Consolas"/>
              </a:rPr>
              <a:t>u16</a:t>
            </a:r>
            <a:r>
              <a:rPr sz="1100">
                <a:solidFill>
                  <a:srgbClr val="E9E3F5"/>
                </a:solidFill>
                <a:latin typeface="Consolas"/>
              </a:rPr>
              <a:t> = 0;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while</a:t>
            </a:r>
            <a:r>
              <a:rPr sz="1100">
                <a:solidFill>
                  <a:srgbClr val="E9E3F5"/>
                </a:solidFill>
                <a:latin typeface="Consolas"/>
              </a:rPr>
              <a:t> (j &lt; 6) : (j += 1)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y[i] = y[i] + A[i*6 + j] * x[j];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y[i] = y[i] + b[i];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sys.unblock_cmd_stream();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5f-2.  gemv-02  ·  memory DSDs (column-major 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Same GEMV, now vectorized: contiguous y / b DSDs + strided A column DSD (stride = 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MLIR  (DSDs + @fmacs / @fadds)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%yd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csl.get_mem_dsd</a:t>
            </a:r>
            <a:r>
              <a:rPr sz="1100">
                <a:solidFill>
                  <a:srgbClr val="E9E3F5"/>
                </a:solidFill>
                <a:latin typeface="Consolas"/>
              </a:rPr>
              <a:t> %y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&lt;4xf32&gt;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%bd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csl.get_mem_dsd</a:t>
            </a:r>
            <a:r>
              <a:rPr sz="1100">
                <a:solidFill>
                  <a:srgbClr val="E9E3F5"/>
                </a:solidFill>
                <a:latin typeface="Consolas"/>
              </a:rPr>
              <a:t> %b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&lt;4xf32&gt;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%Aj0 =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memref.subview</a:t>
            </a:r>
            <a:r>
              <a:rPr sz="1100">
                <a:solidFill>
                  <a:srgbClr val="E9E3F5"/>
                </a:solidFill>
                <a:latin typeface="Consolas"/>
              </a:rPr>
              <a:t> %A[0] [4] [6]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</a:t>
            </a:r>
            <a:r>
              <a:rPr sz="1100">
                <a:solidFill>
                  <a:srgbClr val="E9E3F5"/>
                </a:solidFill>
                <a:latin typeface="Consolas"/>
              </a:rPr>
              <a:t>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&lt;24xf32&gt; to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&lt;4xf32, </a:t>
            </a:r>
            <a:r>
              <a:rPr sz="1100" b="1">
                <a:solidFill>
                  <a:srgbClr val="C4B5FD"/>
                </a:solidFill>
                <a:latin typeface="Consolas"/>
              </a:rPr>
              <a:t>strided</a:t>
            </a:r>
            <a:r>
              <a:rPr sz="1100">
                <a:solidFill>
                  <a:srgbClr val="E9E3F5"/>
                </a:solidFill>
                <a:latin typeface="Consolas"/>
              </a:rPr>
              <a:t>&lt;[6]&gt;&gt;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%Ad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csl.get_mem_dsd</a:t>
            </a:r>
            <a:r>
              <a:rPr sz="1100">
                <a:solidFill>
                  <a:srgbClr val="E9E3F5"/>
                </a:solidFill>
                <a:latin typeface="Consolas"/>
              </a:rPr>
              <a:t> %Aj0 : !csl.dsd</a:t>
            </a:r>
          </a:p>
          <a:p>
            <a:pPr algn="l"/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scf.for</a:t>
            </a:r>
            <a:r>
              <a:rPr sz="1100">
                <a:solidFill>
                  <a:srgbClr val="E9E3F5"/>
                </a:solidFill>
                <a:latin typeface="Consolas"/>
              </a:rPr>
              <a:t> %j = %c0 to %n step %c1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%xj =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memref.load</a:t>
            </a:r>
            <a:r>
              <a:rPr sz="1100">
                <a:solidFill>
                  <a:srgbClr val="E9E3F5"/>
                </a:solidFill>
                <a:latin typeface="Consolas"/>
              </a:rPr>
              <a:t> %x[%j]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csl.builtin_call</a:t>
            </a:r>
            <a:r>
              <a:rPr sz="1100">
                <a:solidFill>
                  <a:srgbClr val="E9E3F5"/>
                </a:solidFill>
                <a:latin typeface="Consolas"/>
              </a:rPr>
              <a:t> "fmacs"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</a:t>
            </a:r>
            <a:r>
              <a:rPr sz="1100">
                <a:solidFill>
                  <a:srgbClr val="E9E3F5"/>
                </a:solidFill>
                <a:latin typeface="Consolas"/>
              </a:rPr>
              <a:t>(%yd, %yd, %Ad, %xj)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%Ad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csl.builtin_call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</a:t>
            </a:r>
            <a:r>
              <a:rPr sz="1100">
                <a:solidFill>
                  <a:srgbClr val="E9E3F5"/>
                </a:solidFill>
                <a:latin typeface="Consolas"/>
              </a:rPr>
              <a:t>"increment_dsd_offset" (%Ad, %c1)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csl.builtin_call</a:t>
            </a:r>
            <a:r>
              <a:rPr sz="1100">
                <a:solidFill>
                  <a:srgbClr val="E9E3F5"/>
                </a:solidFill>
                <a:latin typeface="Consolas"/>
              </a:rPr>
              <a:t> "fadds" (%yd, %yd, %bd)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csl.return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Generated CSL  (pe.csl)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fn</a:t>
            </a:r>
            <a:r>
              <a:rPr sz="1100">
                <a:solidFill>
                  <a:srgbClr val="E9E3F5"/>
                </a:solidFill>
                <a:latin typeface="Consolas"/>
              </a:rPr>
              <a:t> compute() </a:t>
            </a:r>
            <a:r>
              <a:rPr sz="1100" b="1">
                <a:solidFill>
                  <a:srgbClr val="C4B5FD"/>
                </a:solidFill>
                <a:latin typeface="Consolas"/>
              </a:rPr>
              <a:t>void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y_dsd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mem1d_dsd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.{.base_address=&amp;y, .extent=4});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b_dsd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mem1d_dsd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.{.base_address=&amp;b, .extent=4});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A_dsd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mem1d_dsd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.{.base_address=&amp;A, .extent=4,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.stride=6});</a:t>
            </a:r>
          </a:p>
          <a:p>
            <a:pPr algn="l"/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j: </a:t>
            </a:r>
            <a:r>
              <a:rPr sz="1100" b="1">
                <a:solidFill>
                  <a:srgbClr val="C4B5FD"/>
                </a:solidFill>
                <a:latin typeface="Consolas"/>
              </a:rPr>
              <a:t>u16</a:t>
            </a:r>
            <a:r>
              <a:rPr sz="1100">
                <a:solidFill>
                  <a:srgbClr val="E9E3F5"/>
                </a:solidFill>
                <a:latin typeface="Consolas"/>
              </a:rPr>
              <a:t> = 0;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while</a:t>
            </a:r>
            <a:r>
              <a:rPr sz="1100">
                <a:solidFill>
                  <a:srgbClr val="E9E3F5"/>
                </a:solidFill>
                <a:latin typeface="Consolas"/>
              </a:rPr>
              <a:t> (j &lt; 6) : (j += 1)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@fmacs</a:t>
            </a:r>
            <a:r>
              <a:rPr sz="1100">
                <a:solidFill>
                  <a:srgbClr val="E9E3F5"/>
                </a:solidFill>
                <a:latin typeface="Consolas"/>
              </a:rPr>
              <a:t>(y_dsd, y_dsd, A_dsd, x[j]);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A_dsd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@increment_dsd_offset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</a:t>
            </a:r>
            <a:r>
              <a:rPr sz="1100">
                <a:solidFill>
                  <a:srgbClr val="E9E3F5"/>
                </a:solidFill>
                <a:latin typeface="Consolas"/>
              </a:rPr>
              <a:t>A_dsd, 1, 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@fadds</a:t>
            </a:r>
            <a:r>
              <a:rPr sz="1100">
                <a:solidFill>
                  <a:srgbClr val="E9E3F5"/>
                </a:solidFill>
                <a:latin typeface="Consolas"/>
              </a:rPr>
              <a:t>(y_dsd, y_dsd, b_dsd);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5f-3.  gemv-03  ·  host-side memcpy (data lives on host)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Same compute as gemv-02; all four arrays now arrive via memcpy_h2d  ·  host owns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MLIR  (csl.host block)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csl.host</a:t>
            </a:r>
            <a:r>
              <a:rPr sz="1100">
                <a:solidFill>
                  <a:srgbClr val="E9E3F5"/>
                </a:solidFill>
                <a:latin typeface="Consolas"/>
              </a:rPr>
              <a:t> @main(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%Ah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&lt;24xf32&gt;,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%xh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&lt;6xf32&gt;,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%bh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&lt;4xf32&gt;,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%yh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&lt;4xf32&gt;)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{layout = @main_layout}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csl_host.memcpy_h2d</a:t>
            </a:r>
            <a:r>
              <a:rPr sz="1100">
                <a:solidFill>
                  <a:srgbClr val="E9E3F5"/>
                </a:solidFill>
                <a:latin typeface="Consolas"/>
              </a:rPr>
              <a:t> %Ah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to @main_layout::@A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{px=0, py=0, width=1, height=1}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csl_host.memcpy_h2d</a:t>
            </a:r>
            <a:r>
              <a:rPr sz="1100">
                <a:solidFill>
                  <a:srgbClr val="E9E3F5"/>
                </a:solidFill>
                <a:latin typeface="Consolas"/>
              </a:rPr>
              <a:t> %xh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to @main_layout::@x {...}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csl_host.memcpy_h2d</a:t>
            </a:r>
            <a:r>
              <a:rPr sz="1100">
                <a:solidFill>
                  <a:srgbClr val="E9E3F5"/>
                </a:solidFill>
                <a:latin typeface="Consolas"/>
              </a:rPr>
              <a:t> %bh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to @main_layout::@b {...}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csl_host.launch</a:t>
            </a:r>
            <a:r>
              <a:rPr sz="1100">
                <a:solidFill>
                  <a:srgbClr val="E9E3F5"/>
                </a:solidFill>
                <a:latin typeface="Consolas"/>
              </a:rPr>
              <a:t> @main_layout::@compute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csl_host.memcpy_d2h</a:t>
            </a:r>
            <a:r>
              <a:rPr sz="1100">
                <a:solidFill>
                  <a:srgbClr val="E9E3F5"/>
                </a:solidFill>
                <a:latin typeface="Consolas"/>
              </a:rPr>
              <a:t> @main_layout::@y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to %yh {...}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Generated run.py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A = np.random.rand(24).astype(np.float32)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x = np.random.rand(6).astype(np.float32)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b = np.random.rand(4).astype(np.float32)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y = np.zeros(4, dtype=np.float32)</a:t>
            </a:r>
          </a:p>
          <a:p>
            <a:pPr algn="l"/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 = SdkRuntime(name, simfab_numthreads=32)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r.load(); r.run()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r.memcpy_h2d(r.get_id("A"), A,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0,0, 1,1, 24, ...)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r.memcpy_h2d(r.get_id("x"), x, ...)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r.memcpy_h2d(r.get_id("b"), b, ...)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r.launch("compute", nonblock=</a:t>
            </a:r>
            <a:r>
              <a:rPr sz="1100" b="1">
                <a:solidFill>
                  <a:srgbClr val="C4B5FD"/>
                </a:solidFill>
                <a:latin typeface="Consolas"/>
              </a:rPr>
              <a:t>False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r.memcpy_d2h(y, r.get_id("y"), ...)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r.stop()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ref = A.reshape(4,6) @ x + b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assert</a:t>
            </a:r>
            <a:r>
              <a:rPr sz="1100">
                <a:solidFill>
                  <a:srgbClr val="E9E3F5"/>
                </a:solidFill>
                <a:latin typeface="Consolas"/>
              </a:rPr>
              <a:t> np.allclose(y, ref)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print("SUCCESS!")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5f-4.  gemv-04  ·  compile-time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SDK uses  param M : i16  and  param N : i16  — MLIR represents them as constants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MLIR  (params → arith.constant today)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csl.program</a:t>
            </a:r>
            <a:r>
              <a:rPr sz="1100">
                <a:solidFill>
                  <a:srgbClr val="E9E3F5"/>
                </a:solidFill>
                <a:latin typeface="Consolas"/>
              </a:rPr>
              <a:t> @pe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716B82"/>
                </a:solidFill>
                <a:latin typeface="Consolas"/>
              </a:rPr>
              <a:t>// future: csl.comptime_param @M : i16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%m = </a:t>
            </a:r>
            <a:r>
              <a:rPr sz="1100" b="1">
                <a:solidFill>
                  <a:srgbClr val="C4B5FD"/>
                </a:solidFill>
                <a:latin typeface="Consolas"/>
              </a:rPr>
              <a:t>arith.constant</a:t>
            </a:r>
            <a:r>
              <a:rPr sz="1100">
                <a:solidFill>
                  <a:srgbClr val="E9E3F5"/>
                </a:solidFill>
                <a:latin typeface="Consolas"/>
              </a:rPr>
              <a:t> 4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   // M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%n = </a:t>
            </a:r>
            <a:r>
              <a:rPr sz="1100" b="1">
                <a:solidFill>
                  <a:srgbClr val="C4B5FD"/>
                </a:solidFill>
                <a:latin typeface="Consolas"/>
              </a:rPr>
              <a:t>arith.constant</a:t>
            </a:r>
            <a:r>
              <a:rPr sz="1100">
                <a:solidFill>
                  <a:srgbClr val="E9E3F5"/>
                </a:solidFill>
                <a:latin typeface="Consolas"/>
              </a:rPr>
              <a:t> 6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   // N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%yd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csl.get_mem_dsd</a:t>
            </a:r>
            <a:r>
              <a:rPr sz="1100">
                <a:solidFill>
                  <a:srgbClr val="E9E3F5"/>
                </a:solidFill>
                <a:latin typeface="Consolas"/>
              </a:rPr>
              <a:t> %y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&lt;4xf32&gt;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%bd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csl.get_mem_dsd</a:t>
            </a:r>
            <a:r>
              <a:rPr sz="1100">
                <a:solidFill>
                  <a:srgbClr val="E9E3F5"/>
                </a:solidFill>
                <a:latin typeface="Consolas"/>
              </a:rPr>
              <a:t> %b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&lt;4xf32&gt;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%Ad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csl.get_mem_dsd</a:t>
            </a:r>
            <a:r>
              <a:rPr sz="1100">
                <a:solidFill>
                  <a:srgbClr val="E9E3F5"/>
                </a:solidFill>
                <a:latin typeface="Consolas"/>
              </a:rPr>
              <a:t> %A_col : ...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scf.for</a:t>
            </a:r>
            <a:r>
              <a:rPr sz="1100">
                <a:solidFill>
                  <a:srgbClr val="E9E3F5"/>
                </a:solidFill>
                <a:latin typeface="Consolas"/>
              </a:rPr>
              <a:t> %j = %c0 to %n step %c1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csl.builtin_call</a:t>
            </a:r>
            <a:r>
              <a:rPr sz="1100">
                <a:solidFill>
                  <a:srgbClr val="E9E3F5"/>
                </a:solidFill>
                <a:latin typeface="Consolas"/>
              </a:rPr>
              <a:t> "fmacs" (%yd, %yd, %Ad, %xj)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csl.builtin_call</a:t>
            </a:r>
            <a:r>
              <a:rPr sz="1100">
                <a:solidFill>
                  <a:srgbClr val="E9E3F5"/>
                </a:solidFill>
                <a:latin typeface="Consolas"/>
              </a:rPr>
              <a:t> "fadds" (%yd, %yd, %bd)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Generated CSL  (true params)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param M: </a:t>
            </a:r>
            <a:r>
              <a:rPr sz="1100" b="1">
                <a:solidFill>
                  <a:srgbClr val="C4B5FD"/>
                </a:solidFill>
                <a:latin typeface="Consolas"/>
              </a:rPr>
              <a:t>i16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param N: </a:t>
            </a:r>
            <a:r>
              <a:rPr sz="1100" b="1">
                <a:solidFill>
                  <a:srgbClr val="C4B5FD"/>
                </a:solidFill>
                <a:latin typeface="Consolas"/>
              </a:rPr>
              <a:t>i16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y: [M]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b: [M]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x: [N]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A: [M*N]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fn</a:t>
            </a:r>
            <a:r>
              <a:rPr sz="1100">
                <a:solidFill>
                  <a:srgbClr val="E9E3F5"/>
                </a:solidFill>
                <a:latin typeface="Consolas"/>
              </a:rPr>
              <a:t> compute() </a:t>
            </a:r>
            <a:r>
              <a:rPr sz="1100" b="1">
                <a:solidFill>
                  <a:srgbClr val="C4B5FD"/>
                </a:solidFill>
                <a:latin typeface="Consolas"/>
              </a:rPr>
              <a:t>void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for (j in 0..N)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@fmacs</a:t>
            </a:r>
            <a:r>
              <a:rPr sz="1100">
                <a:solidFill>
                  <a:srgbClr val="E9E3F5"/>
                </a:solidFill>
                <a:latin typeface="Consolas"/>
              </a:rPr>
              <a:t>(y_dsd, y_dsd, A_dsd, x[j]);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@fadds</a:t>
            </a:r>
            <a:r>
              <a:rPr sz="1100">
                <a:solidFill>
                  <a:srgbClr val="E9E3F5"/>
                </a:solidFill>
                <a:latin typeface="Consolas"/>
              </a:rPr>
              <a:t>(y_dsd, y_dsd, b_dsd);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Gap noted: a future csl.comptime_param op could close this without changing the emitter.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5f-5.  gemv-05  ·  multiple PEs (1×2 column partition)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Same program on both PEs (SPMD)  ·  N=6 split into N_per_PE=3  ·  host broadcasts shards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MLIR  (layout + host shard)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100">
                <a:solidFill>
                  <a:srgbClr val="E9E3F5"/>
                </a:solidFill>
                <a:latin typeface="Consolas"/>
              </a:rPr>
              <a:t> {width=2, height=1} @main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E9E3F5"/>
                </a:solidFill>
                <a:latin typeface="Consolas"/>
              </a:rPr>
              <a:t> @pe </a:t>
            </a:r>
            <a:r>
              <a:rPr sz="1100" b="1">
                <a:solidFill>
                  <a:srgbClr val="C4B5FD"/>
                </a:solidFill>
                <a:latin typeface="Consolas"/>
              </a:rPr>
              <a:t>over</a:t>
            </a:r>
            <a:r>
              <a:rPr sz="1100">
                <a:solidFill>
                  <a:srgbClr val="E9E3F5"/>
                </a:solidFill>
                <a:latin typeface="Consolas"/>
              </a:rPr>
              <a:t> [0:2, 0]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csl.host</a:t>
            </a:r>
            <a:r>
              <a:rPr sz="1100">
                <a:solidFill>
                  <a:srgbClr val="E9E3F5"/>
                </a:solidFill>
                <a:latin typeface="Consolas"/>
              </a:rPr>
              <a:t> @main(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%Ah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&lt;2x12xf32&gt;,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%xh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&lt;2x3xf32&gt;,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%bh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&lt;4xf32&gt;,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%yh : </a:t>
            </a:r>
            <a:r>
              <a:rPr sz="1100" b="1">
                <a:solidFill>
                  <a:srgbClr val="C4B5FD"/>
                </a:solidFill>
                <a:latin typeface="Consolas"/>
              </a:rPr>
              <a:t>memref</a:t>
            </a:r>
            <a:r>
              <a:rPr sz="1100">
                <a:solidFill>
                  <a:srgbClr val="E9E3F5"/>
                </a:solidFill>
                <a:latin typeface="Consolas"/>
              </a:rPr>
              <a:t>&lt;2x4xf32&gt;)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{layout = @main}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csl_host.memcpy_h2d</a:t>
            </a:r>
            <a:r>
              <a:rPr sz="1100">
                <a:solidFill>
                  <a:srgbClr val="E9E3F5"/>
                </a:solidFill>
                <a:latin typeface="Consolas"/>
              </a:rPr>
              <a:t> %Ah to @main::@A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{px=0, py=0, width=2, height=1}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csl_host.memcpy_h2d</a:t>
            </a:r>
            <a:r>
              <a:rPr sz="1100">
                <a:solidFill>
                  <a:srgbClr val="E9E3F5"/>
                </a:solidFill>
                <a:latin typeface="Consolas"/>
              </a:rPr>
              <a:t> %xh to @main::@x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{px=0, py=0, width=2, height=1}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csl_host.launch</a:t>
            </a:r>
            <a:r>
              <a:rPr sz="1100">
                <a:solidFill>
                  <a:srgbClr val="E9E3F5"/>
                </a:solidFill>
                <a:latin typeface="Consolas"/>
              </a:rPr>
              <a:t> @main::@compute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csl_host.memcpy_d2h</a:t>
            </a:r>
            <a:r>
              <a:rPr sz="1100">
                <a:solidFill>
                  <a:srgbClr val="E9E3F5"/>
                </a:solidFill>
                <a:latin typeface="Consolas"/>
              </a:rPr>
              <a:t> @main::@y to %yh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{px=0, py=0, width=2, height=1}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Generated CSL  (layout.csl)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memcpy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@import_module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"&lt;memcpy/get_params&gt;", .{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.width = 2, .height = 1,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});</a:t>
            </a:r>
          </a:p>
          <a:p>
            <a:pPr algn="l"/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layout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@set_rectangle</a:t>
            </a:r>
            <a:r>
              <a:rPr sz="1100">
                <a:solidFill>
                  <a:srgbClr val="E9E3F5"/>
                </a:solidFill>
                <a:latin typeface="Consolas"/>
              </a:rPr>
              <a:t>(2, 1);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px: </a:t>
            </a:r>
            <a:r>
              <a:rPr sz="1100" b="1">
                <a:solidFill>
                  <a:srgbClr val="C4B5FD"/>
                </a:solidFill>
                <a:latin typeface="Consolas"/>
              </a:rPr>
              <a:t>u16</a:t>
            </a:r>
            <a:r>
              <a:rPr sz="1100">
                <a:solidFill>
                  <a:srgbClr val="E9E3F5"/>
                </a:solidFill>
                <a:latin typeface="Consolas"/>
              </a:rPr>
              <a:t> = 0;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while</a:t>
            </a:r>
            <a:r>
              <a:rPr sz="1100">
                <a:solidFill>
                  <a:srgbClr val="E9E3F5"/>
                </a:solidFill>
                <a:latin typeface="Consolas"/>
              </a:rPr>
              <a:t> (px &lt; 2) : (px += 1)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@set_tile_code</a:t>
            </a:r>
            <a:r>
              <a:rPr sz="1100">
                <a:solidFill>
                  <a:srgbClr val="E9E3F5"/>
                </a:solidFill>
                <a:latin typeface="Consolas"/>
              </a:rPr>
              <a:t>(px, 0, "pe.csl",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.{.memcpy_params =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    </a:t>
            </a:r>
            <a:r>
              <a:rPr sz="1100">
                <a:solidFill>
                  <a:srgbClr val="E9E3F5"/>
                </a:solidFill>
                <a:latin typeface="Consolas"/>
              </a:rPr>
              <a:t>memcpy.get_params(px)});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pe.csl  (same for both PEs)</a:t>
            </a:r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each holds 4×3 A shard + 3 x-shard</a:t>
            </a:r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+ 4-elem b + writes 4-elem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5f-6.  gemv-06  ·  inter-PE routing (final stage)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Distinct left / right programs  ·  left sends partial y east  ·  right adds + returns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D3FC"/>
                </a:solidFill>
                <a:latin typeface="Calibri"/>
              </a:rPr>
              <a:t>Input MLIR  (two programs + edge)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csl.program</a:t>
            </a:r>
            <a:r>
              <a:rPr sz="1100">
                <a:solidFill>
                  <a:srgbClr val="E9E3F5"/>
                </a:solidFill>
                <a:latin typeface="Consolas"/>
              </a:rPr>
              <a:t> @left_pe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716B82"/>
                </a:solidFill>
                <a:latin typeface="Consolas"/>
              </a:rPr>
              <a:t>// y_L = A_L · x_L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scf.for</a:t>
            </a:r>
            <a:r>
              <a:rPr sz="1100">
                <a:solidFill>
                  <a:srgbClr val="E9E3F5"/>
                </a:solidFill>
                <a:latin typeface="Consolas"/>
              </a:rPr>
              <a:t> ... { ... fmacs ... 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csl.dataflow.put</a:t>
            </a:r>
            <a:r>
              <a:rPr sz="1100">
                <a:solidFill>
                  <a:srgbClr val="E9E3F5"/>
                </a:solidFill>
                <a:latin typeface="Consolas"/>
              </a:rPr>
              <a:t> @send_ch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source(%y) extent(%m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csl.program</a:t>
            </a:r>
            <a:r>
              <a:rPr sz="1100">
                <a:solidFill>
                  <a:srgbClr val="E9E3F5"/>
                </a:solidFill>
                <a:latin typeface="Consolas"/>
              </a:rPr>
              <a:t> @right_pe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csl.func</a:t>
            </a:r>
            <a:r>
              <a:rPr sz="1100">
                <a:solidFill>
                  <a:srgbClr val="E9E3F5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716B82"/>
                </a:solidFill>
                <a:latin typeface="Consolas"/>
              </a:rPr>
              <a:t>// y_R = A_R · x_R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scf.for</a:t>
            </a:r>
            <a:r>
              <a:rPr sz="1100">
                <a:solidFill>
                  <a:srgbClr val="E9E3F5"/>
                </a:solidFill>
                <a:latin typeface="Consolas"/>
              </a:rPr>
              <a:t> ... { ... fmacs ... 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csl.dataflow.get</a:t>
            </a:r>
            <a:r>
              <a:rPr sz="1100">
                <a:solidFill>
                  <a:srgbClr val="E9E3F5"/>
                </a:solidFill>
                <a:latin typeface="Consolas"/>
              </a:rPr>
              <a:t> @send_ch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target(%y_L) extent(%m : </a:t>
            </a:r>
            <a:r>
              <a:rPr sz="1100" b="1">
                <a:solidFill>
                  <a:srgbClr val="C4B5FD"/>
                </a:solidFill>
                <a:latin typeface="Consolas"/>
              </a:rPr>
              <a:t>index</a:t>
            </a:r>
            <a:r>
              <a:rPr sz="1100">
                <a:solidFill>
                  <a:srgbClr val="E9E3F5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csl.builtin_call</a:t>
            </a:r>
            <a:r>
              <a:rPr sz="1100">
                <a:solidFill>
                  <a:srgbClr val="E9E3F5"/>
                </a:solidFill>
                <a:latin typeface="Consolas"/>
              </a:rPr>
              <a:t> "fadds"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  </a:t>
            </a:r>
            <a:r>
              <a:rPr sz="1100">
                <a:solidFill>
                  <a:srgbClr val="E9E3F5"/>
                </a:solidFill>
                <a:latin typeface="Consolas"/>
              </a:rPr>
              <a:t>(%y_dsd, %y_dsd, %y_L_dsd)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csl.layout</a:t>
            </a:r>
            <a:r>
              <a:rPr sz="1100">
                <a:solidFill>
                  <a:srgbClr val="E9E3F5"/>
                </a:solidFill>
                <a:latin typeface="Consolas"/>
              </a:rPr>
              <a:t> {width=2, height=1} @layout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csl_layout.dataflow</a:t>
            </a:r>
            <a:r>
              <a:rPr sz="1100">
                <a:solidFill>
                  <a:srgbClr val="E9E3F5"/>
                </a:solidFill>
                <a:latin typeface="Consolas"/>
              </a:rPr>
              <a:t> @send_ch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from(0, 0) to(1, 0)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Calibri"/>
              </a:rPr>
              <a:t>Generated CSL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577840" cy="4297680"/>
          </a:xfrm>
          <a:prstGeom prst="rect">
            <a:avLst/>
          </a:prstGeom>
          <a:solidFill>
            <a:srgbClr val="0B0814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45784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left_pe.csl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send = @get_color(0);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fn</a:t>
            </a:r>
            <a:r>
              <a:rPr sz="1100">
                <a:solidFill>
                  <a:srgbClr val="E9E3F5"/>
                </a:solidFill>
                <a:latin typeface="Consolas"/>
              </a:rPr>
              <a:t> compute() </a:t>
            </a:r>
            <a:r>
              <a:rPr sz="1100" b="1">
                <a:solidFill>
                  <a:srgbClr val="C4B5FD"/>
                </a:solidFill>
                <a:latin typeface="Consolas"/>
              </a:rPr>
              <a:t>void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716B82"/>
                </a:solidFill>
                <a:latin typeface="Consolas"/>
              </a:rPr>
              <a:t>// ... gemv-02 style fmacs loop ...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fd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fabout_dsd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.{.fabric_color=send, .extent=4});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@fmovs</a:t>
            </a:r>
            <a:r>
              <a:rPr sz="1100">
                <a:solidFill>
                  <a:srgbClr val="E9E3F5"/>
                </a:solidFill>
                <a:latin typeface="Consolas"/>
              </a:rPr>
              <a:t>(fd, y_dsd, .{.async=true});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  <a:p>
            <a:pPr algn="l"/>
          </a:p>
          <a:p>
            <a:pPr algn="l"/>
            <a:r>
              <a:rPr sz="1100">
                <a:solidFill>
                  <a:srgbClr val="716B82"/>
                </a:solidFill>
                <a:latin typeface="Consolas"/>
              </a:rPr>
              <a:t>// right_pe.csl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recv = @get_color(0);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var</a:t>
            </a:r>
            <a:r>
              <a:rPr sz="1100">
                <a:solidFill>
                  <a:srgbClr val="E9E3F5"/>
                </a:solidFill>
                <a:latin typeface="Consolas"/>
              </a:rPr>
              <a:t> y_L: [4]</a:t>
            </a:r>
            <a:r>
              <a:rPr sz="1100" b="1">
                <a:solidFill>
                  <a:srgbClr val="C4B5FD"/>
                </a:solidFill>
                <a:latin typeface="Consolas"/>
              </a:rPr>
              <a:t>f32</a:t>
            </a:r>
            <a:r>
              <a:rPr sz="1100">
                <a:solidFill>
                  <a:srgbClr val="E9E3F5"/>
                </a:solidFill>
                <a:latin typeface="Consolas"/>
              </a:rPr>
              <a:t>;</a:t>
            </a:r>
          </a:p>
          <a:p>
            <a:pPr algn="l"/>
            <a:r>
              <a:rPr sz="1100" b="1">
                <a:solidFill>
                  <a:srgbClr val="C4B5FD"/>
                </a:solidFill>
                <a:latin typeface="Consolas"/>
              </a:rPr>
              <a:t>fn</a:t>
            </a:r>
            <a:r>
              <a:rPr sz="1100">
                <a:solidFill>
                  <a:srgbClr val="E9E3F5"/>
                </a:solidFill>
                <a:latin typeface="Consolas"/>
              </a:rPr>
              <a:t> compute() </a:t>
            </a:r>
            <a:r>
              <a:rPr sz="1100" b="1">
                <a:solidFill>
                  <a:srgbClr val="C4B5FD"/>
                </a:solidFill>
                <a:latin typeface="Consolas"/>
              </a:rPr>
              <a:t>void</a:t>
            </a:r>
            <a:r>
              <a:rPr sz="1100">
                <a:solidFill>
                  <a:srgbClr val="E9E3F5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>
                <a:solidFill>
                  <a:srgbClr val="716B82"/>
                </a:solidFill>
                <a:latin typeface="Consolas"/>
              </a:rPr>
              <a:t>// ... gemv-02 style fmacs loop ...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9E3F5"/>
                </a:solidFill>
                <a:latin typeface="Consolas"/>
              </a:rPr>
              <a:t> fd = </a:t>
            </a:r>
            <a:r>
              <a:rPr sz="1100" b="1">
                <a:solidFill>
                  <a:srgbClr val="C4B5FD"/>
                </a:solidFill>
                <a:latin typeface="Consolas"/>
              </a:rPr>
              <a:t>@get_dsd</a:t>
            </a:r>
            <a:r>
              <a:rPr sz="1100">
                <a:solidFill>
                  <a:srgbClr val="E9E3F5"/>
                </a:solidFill>
                <a:latin typeface="Consolas"/>
              </a:rPr>
              <a:t>(</a:t>
            </a:r>
            <a:r>
              <a:rPr sz="1100" b="1">
                <a:solidFill>
                  <a:srgbClr val="C4B5FD"/>
                </a:solidFill>
                <a:latin typeface="Consolas"/>
              </a:rPr>
              <a:t>fabin_dsd</a:t>
            </a:r>
            <a:r>
              <a:rPr sz="1100">
                <a:solidFill>
                  <a:srgbClr val="E9E3F5"/>
                </a:solidFill>
                <a:latin typeface="Consolas"/>
              </a:rPr>
              <a:t>,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  </a:t>
            </a:r>
            <a:r>
              <a:rPr sz="1100">
                <a:solidFill>
                  <a:srgbClr val="E9E3F5"/>
                </a:solidFill>
                <a:latin typeface="Consolas"/>
              </a:rPr>
              <a:t>.{.fabric_color=recv, .extent=4});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@fmovs</a:t>
            </a:r>
            <a:r>
              <a:rPr sz="1100">
                <a:solidFill>
                  <a:srgbClr val="E9E3F5"/>
                </a:solidFill>
                <a:latin typeface="Consolas"/>
              </a:rPr>
              <a:t>(y_L_dsd, fd, .{.async=true});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  </a:t>
            </a:r>
            <a:r>
              <a:rPr sz="1100" b="1">
                <a:solidFill>
                  <a:srgbClr val="C4B5FD"/>
                </a:solidFill>
                <a:latin typeface="Consolas"/>
              </a:rPr>
              <a:t>@fadds</a:t>
            </a:r>
            <a:r>
              <a:rPr sz="1100">
                <a:solidFill>
                  <a:srgbClr val="E9E3F5"/>
                </a:solidFill>
                <a:latin typeface="Consolas"/>
              </a:rPr>
              <a:t>(y_dsd, y_dsd, y_L_dsd);</a:t>
            </a:r>
          </a:p>
          <a:p>
            <a:pPr algn="l"/>
            <a:r>
              <a:rPr sz="1100">
                <a:solidFill>
                  <a:srgbClr val="E9E3F5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All six tutorial stages: air-opt ... | air-translate --emit-csl → bash commands_wse3.sh → SUCCESS!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AF5FF"/>
                </a:solidFill>
                <a:latin typeface="Calibri"/>
              </a:rPr>
              <a:t>Stats  ·  what landed on  air-to-fire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8A1B8"/>
                </a:solidFill>
                <a:latin typeface="Calibri"/>
              </a:rPr>
              <a:t>Numbers, no fancy boxes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56232"/>
            <a:ext cx="4535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808" y="185623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1856232"/>
            <a:ext cx="4443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426"/>
                </a:solidFill>
                <a:latin typeface="Calibri"/>
              </a:rPr>
              <a:t>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21992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Commits ahead of 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222199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188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221992"/>
            <a:ext cx="4443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since branch creation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587752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New air-opt passes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58775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587752"/>
            <a:ext cx="4443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verify-params · infer-exports · auto-vectorize · dataflow-to-csl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953512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Multi-PE dataflow sub-passes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295351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2953512"/>
            <a:ext cx="4443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materialize · allocate · routing ·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319272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Auto-vectorize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331927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3319272"/>
            <a:ext cx="4443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fadds · fsubs · fmuls · fmovs · fnegs · fmacs · scalar · rank-2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685032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Loop-recognition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68503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3685032"/>
            <a:ext cx="4443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shape · purity · access predicates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7764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050792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CSL dialect TableGen 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808" y="405079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4050792"/>
            <a:ext cx="4443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Layout · Placement · Kernel · Routing · DataMovement · Runtime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416552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CSL Dialect lit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1808" y="441655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0608" y="4416552"/>
            <a:ext cx="4443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round-trip + verifier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782312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Conversion/AIRToCSL 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1808" y="478231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0608" y="4782312"/>
            <a:ext cx="4443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vecadd e2e + 7× reject_*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5148072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Targets/CSLEmit/e2e tests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514807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35+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5148072"/>
            <a:ext cx="4443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elementwise · control-flow · multi-program · scientific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5513832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Multi-PE e2e 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21808" y="551383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50608" y="5513832"/>
            <a:ext cx="4443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ping · chain · fanin · relay · wavelet · xparity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2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5879592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GEMV tutorial stages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21808" y="587959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0608" y="5879592"/>
            <a:ext cx="4443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gemv-01 … gemv-06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0B0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6245352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Simulator target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21808" y="6245352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onsolas"/>
              </a:rPr>
              <a:t>WSE-3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50608" y="6245352"/>
            <a:ext cx="4443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AF5FF"/>
                </a:solidFill>
                <a:latin typeface="Calibri"/>
              </a:rPr>
              <a:t>cslc + sdkruntime · also emits WSE-2 commands.sh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A1B8"/>
                </a:solidFill>
                <a:latin typeface="Calibri"/>
              </a:rPr>
              <a:t>mlir-air  ·  CSL backend  ·  branch air-to-fire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A8A1B8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377440"/>
            <a:ext cx="164592" cy="201168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AF5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BBF24"/>
                </a:solidFill>
                <a:latin typeface="Consolas"/>
              </a:rPr>
              <a:t>Demo:  air-opt ... --csl-dataflow-to-csl  |  air-translate --emit-csl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8A1B8"/>
                </a:solidFill>
                <a:latin typeface="Calibri"/>
              </a:rPr>
              <a:t>Branch  air-to-fire  ·  188 commits  ·  16 multi-PE e2e green on WSE-3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