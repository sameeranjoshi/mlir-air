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38328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4632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0936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3544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6350">
            <a:solidFill>
              <a:srgbClr val="1A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1463040"/>
            <a:ext cx="164592" cy="23774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B74D"/>
                </a:solidFill>
                <a:latin typeface="Consolas"/>
              </a:rPr>
              <a:t>MLIR · AIR → CSL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6ECF2"/>
                </a:solidFill>
                <a:latin typeface="Calibri"/>
              </a:rPr>
              <a:t>A Compiler Path from AIR to the
Cerebras Wafer-Scale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AA5B1"/>
                </a:solidFill>
                <a:latin typeface="Consolas"/>
              </a:rPr>
              <a:t>CSL dialect · -air-to-csl · -csl-auto-vectorize · --emit-csl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Calibri"/>
              </a:rPr>
              <a:t>Branch  air-to-fire   ·   simulator-validated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Consolas"/>
              </a:rPr>
              <a:t>Project: mlir-air     CSL backend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The 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AIR program → structured CSL IR → three text artifacts the Cerebras toolchain ingests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91640" cy="1234440"/>
          </a:xfrm>
          <a:prstGeom prst="rect">
            <a:avLst/>
          </a:prstGeom>
          <a:solidFill>
            <a:srgbClr val="182030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691640" cy="12801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ECF2"/>
                </a:solidFill>
                <a:latin typeface="Consolas"/>
              </a:rPr>
              <a:t>AIR
MLIR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air.launch / segment / herd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828800"/>
            <a:ext cx="1691640" cy="1234440"/>
          </a:xfrm>
          <a:prstGeom prst="rect">
            <a:avLst/>
          </a:prstGeom>
          <a:solidFill>
            <a:srgbClr val="182030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3432" y="1828800"/>
            <a:ext cx="1691640" cy="128016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2029968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ECF2"/>
                </a:solidFill>
                <a:latin typeface="Consolas"/>
              </a:rPr>
              <a:t>-air-to-csl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54203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lower to csl.wafer container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664" y="1828800"/>
            <a:ext cx="1691640" cy="1234440"/>
          </a:xfrm>
          <a:prstGeom prst="rect">
            <a:avLst/>
          </a:prstGeom>
          <a:solidFill>
            <a:srgbClr val="182030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664" y="1828800"/>
            <a:ext cx="1691640" cy="128016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2029968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ECF2"/>
                </a:solidFill>
                <a:latin typeface="Consolas"/>
              </a:rPr>
              <a:t>-csl-auto-vectorize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54203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scf.for → @fadds/@fmuls/@fmacs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1828800"/>
            <a:ext cx="1691640" cy="1234440"/>
          </a:xfrm>
          <a:prstGeom prst="rect">
            <a:avLst/>
          </a:prstGeom>
          <a:solidFill>
            <a:srgbClr val="182030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828800"/>
            <a:ext cx="1691640" cy="128016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2029968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ECF2"/>
                </a:solidFill>
                <a:latin typeface="Consolas"/>
              </a:rPr>
              <a:t>-csl-infer-exports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254203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host I/O ↔ device symbols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2128" y="1828800"/>
            <a:ext cx="1691640" cy="1234440"/>
          </a:xfrm>
          <a:prstGeom prst="rect">
            <a:avLst/>
          </a:prstGeom>
          <a:solidFill>
            <a:srgbClr val="182030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8" y="1828800"/>
            <a:ext cx="1691640" cy="128016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2029968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ECF2"/>
                </a:solidFill>
                <a:latin typeface="Consolas"/>
              </a:rPr>
              <a:t>--emit-csl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4203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layout.csl + pe.csl + run.py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828800"/>
            <a:ext cx="1691640" cy="1234440"/>
          </a:xfrm>
          <a:prstGeom prst="rect">
            <a:avLst/>
          </a:prstGeom>
          <a:solidFill>
            <a:srgbClr val="182030"/>
          </a:solidFill>
          <a:ln w="9525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828800"/>
            <a:ext cx="1691640" cy="128016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2029968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ECF2"/>
                </a:solidFill>
                <a:latin typeface="Consolas"/>
              </a:rPr>
              <a:t>cslc + 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54203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Cerebras SDK runtime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039112" y="3227832"/>
            <a:ext cx="292608" cy="164592"/>
          </a:xfrm>
          <a:prstGeom prst="right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3895344" y="3227832"/>
            <a:ext cx="292608" cy="164592"/>
          </a:xfrm>
          <a:prstGeom prst="right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751576" y="3227832"/>
            <a:ext cx="292608" cy="164592"/>
          </a:xfrm>
          <a:prstGeom prst="right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607808" y="3227832"/>
            <a:ext cx="292608" cy="164592"/>
          </a:xfrm>
          <a:prstGeom prst="right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9464040" y="3227832"/>
            <a:ext cx="292608" cy="164592"/>
          </a:xfrm>
          <a:prstGeom prst="right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CF2"/>
                </a:solidFill>
                <a:latin typeface="Calibri"/>
              </a:rPr>
              <a:t>Two MLIR tools do the heavy lifting: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7200" y="4632000"/>
            <a:ext cx="11127120" cy="143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$ air-opt vecadd.mlir -air-to-csl -csl-auto-vectorize -csl-infer-exports \</a:t>
            </a:r>
          </a:p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    </a:t>
            </a:r>
            <a:r>
              <a:rPr sz="1300">
                <a:solidFill>
                  <a:srgbClr val="C9D1D9"/>
                </a:solidFill>
                <a:latin typeface="Consolas"/>
              </a:rPr>
              <a:t>| air-translate --emit-csl --output-dir=out/</a:t>
            </a:r>
          </a:p>
          <a:p>
            <a:pPr algn="l"/>
          </a:p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$ ls out/vecadd/</a:t>
            </a:r>
          </a:p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  </a:t>
            </a:r>
            <a:r>
              <a:rPr sz="1300">
                <a:solidFill>
                  <a:srgbClr val="C9D1D9"/>
                </a:solidFill>
                <a:latin typeface="Consolas"/>
              </a:rPr>
              <a:t>pe.csl       layout.csl       run.py       commands_wse{2,3}.sh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AIR Primer  ·  three-level spatial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AIR is the core abstraction in mlir-air — borrowed from the AIE backend, now retargeted to CSL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011680" cy="5029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828800"/>
            <a:ext cx="3291840" cy="5029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9385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onsolas"/>
              </a:rPr>
              <a:t>AIR 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669280" cy="5029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93852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Maps to (CSL)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4144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alibri"/>
              </a:rPr>
              <a:t>Host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331720"/>
            <a:ext cx="329184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4414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CF2"/>
                </a:solidFill>
                <a:latin typeface="Consolas"/>
              </a:rPr>
              <a:t>air.launch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331720"/>
            <a:ext cx="566928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44144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alibri"/>
              </a:rPr>
              <a:t>csl.host  +  csl.wafer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2011680" cy="5029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4436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alibri"/>
              </a:rPr>
              <a:t>L2 buf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834640"/>
            <a:ext cx="3291840" cy="5029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9443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CF2"/>
                </a:solidFill>
                <a:latin typeface="Consolas"/>
              </a:rPr>
              <a:t>air.segment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834640"/>
            <a:ext cx="5669280" cy="5029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94436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alibri"/>
              </a:rPr>
              <a:t>(elided — wafer fabric is flat)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37560"/>
            <a:ext cx="201168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4728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alibri"/>
              </a:rPr>
              <a:t>Compute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3337560"/>
            <a:ext cx="329184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34472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CF2"/>
                </a:solidFill>
                <a:latin typeface="Consolas"/>
              </a:rPr>
              <a:t>air.herd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337560"/>
            <a:ext cx="566928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44728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alibri"/>
              </a:rPr>
              <a:t>csl.program @pe placed by csl_layout.place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Calibri"/>
              </a:rPr>
              <a:t>Memory spaces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348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memref&lt;...&gt;     —  L3 / DDR  (host-visible)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memref&lt;..., 1&gt;  —  L2 segment buffer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memref&lt;..., 2&gt;  —  L1 / per-tile  (CSL: per-PE)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Calibri"/>
              </a:rPr>
              <a:t>Data movement: air.dma_memcpy_nd / air.channel — direct cross-level loads/stores are illegal.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The CSL Dialect  ·  six op groups, one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All ops live under csl.wafer — the per-program scope. Verifiers reject patterns the Cerebras SDK can't express.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623560" cy="1417320"/>
          </a:xfrm>
          <a:prstGeom prst="rect">
            <a:avLst/>
          </a:prstGeom>
          <a:solidFill>
            <a:srgbClr val="1820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37160" cy="14173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CF2"/>
                </a:solidFill>
                <a:latin typeface="Calibri"/>
              </a:rPr>
              <a:t>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B74D"/>
                </a:solidFill>
                <a:latin typeface="Consolas"/>
              </a:rPr>
              <a:t>csl.layout · csl_layout.place {at | over [a:b, c:d]}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alibri"/>
              </a:rPr>
              <a:t>spatial grid + tile→code mapping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623560" cy="1417320"/>
          </a:xfrm>
          <a:prstGeom prst="rect">
            <a:avLst/>
          </a:prstGeom>
          <a:solidFill>
            <a:srgbClr val="1820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137160" cy="14173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CF2"/>
                </a:solidFill>
                <a:latin typeface="Calibri"/>
              </a:rPr>
              <a:t>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B74D"/>
                </a:solidFill>
                <a:latin typeface="Consolas"/>
              </a:rPr>
              <a:t>csl.program · csl.func · csl.var · csl.export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alibri"/>
              </a:rPr>
              <a:t>per-PE program; what host sees as symbols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623560" cy="1417320"/>
          </a:xfrm>
          <a:prstGeom prst="rect">
            <a:avLst/>
          </a:prstGeom>
          <a:solidFill>
            <a:srgbClr val="1820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37160" cy="14173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CF2"/>
                </a:solidFill>
                <a:latin typeface="Calibri"/>
              </a:rPr>
              <a:t>Data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B74D"/>
                </a:solidFill>
                <a:latin typeface="Consolas"/>
              </a:rPr>
              <a:t>csl.get_mem_dsd · csl.builtin_call "@fmacs"…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alibri"/>
              </a:rPr>
              <a:t>DSDs over memref, generic builtin 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5623560" cy="1417320"/>
          </a:xfrm>
          <a:prstGeom prst="rect">
            <a:avLst/>
          </a:prstGeom>
          <a:solidFill>
            <a:srgbClr val="1820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137160" cy="14173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52044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CF2"/>
                </a:solidFill>
                <a:latin typeface="Calibri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8862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B74D"/>
                </a:solidFill>
                <a:latin typeface="Consolas"/>
              </a:rPr>
              <a:t>csl.import_module · csl.host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9768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alibri"/>
              </a:rPr>
              <a:t>user-level imports + host I/O block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5623560" cy="1417320"/>
          </a:xfrm>
          <a:prstGeom prst="rect">
            <a:avLst/>
          </a:prstGeom>
          <a:solidFill>
            <a:srgbClr val="1820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137160" cy="14173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CF2"/>
                </a:solidFill>
                <a:latin typeface="Calibri"/>
              </a:rPr>
              <a:t>Host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B74D"/>
                </a:solidFill>
                <a:latin typeface="Consolas"/>
              </a:rPr>
              <a:t>csl_host.memcpy_h2d · memcpy_d2h · 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9788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alibri"/>
              </a:rPr>
              <a:t>structured replacement for ad-hoc run.py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983480"/>
            <a:ext cx="5623560" cy="1417320"/>
          </a:xfrm>
          <a:prstGeom prst="rect">
            <a:avLst/>
          </a:prstGeom>
          <a:solidFill>
            <a:srgbClr val="182030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983480"/>
            <a:ext cx="137160" cy="14173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12064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CF2"/>
                </a:solidFill>
                <a:latin typeface="Calibri"/>
              </a:rPr>
              <a:t>Top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4864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B74D"/>
                </a:solidFill>
                <a:latin typeface="Consolas"/>
              </a:rPr>
              <a:t>csl.wafer { arch = "wse2" | "wse3"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89788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alibri"/>
              </a:rPr>
              <a:t>container; one .pptx output dir per wafer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Example  ·  vecadd in 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Plain three-level AIR program — same shape as any AIE/GPU AIR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1751640"/>
            <a:ext cx="11127120" cy="44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func.func</a:t>
            </a:r>
            <a:r>
              <a:rPr sz="1200">
                <a:solidFill>
                  <a:srgbClr val="C9D1D9"/>
                </a:solidFill>
                <a:latin typeface="Consolas"/>
              </a:rPr>
              <a:t> @vecadd(%a: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&lt;256xf32&gt;, %b: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%c: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&lt;256xf32&gt;)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%one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air.launch</a:t>
            </a:r>
            <a:r>
              <a:rPr sz="1200">
                <a:solidFill>
                  <a:srgbClr val="C9D1D9"/>
                </a:solidFill>
                <a:latin typeface="Consolas"/>
              </a:rPr>
              <a:t> (%tx) in (%sx=%one) args(%la=%a, %lb=%b, %lc=%c)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&lt;256xf32&gt;,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&lt;256xf32&gt;,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air.segment</a:t>
            </a:r>
            <a:r>
              <a:rPr sz="1200">
                <a:solidFill>
                  <a:srgbClr val="C9D1D9"/>
                </a:solidFill>
                <a:latin typeface="Consolas"/>
              </a:rPr>
              <a:t> @seg0 args(%sa=%la, %sb=%lb, %sc=%lc) ...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%one2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air.herd</a:t>
            </a:r>
            <a:r>
              <a:rPr sz="1200">
                <a:solidFill>
                  <a:srgbClr val="C9D1D9"/>
                </a:solidFill>
                <a:latin typeface="Consolas"/>
              </a:rPr>
              <a:t> @h tile(%htx, %hty) in (%hsx=%one2, %hsy=%one2)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args(%ha=%sa, %hb=%sb, %hc=%sc) ...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%lo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0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%hi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256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%st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scf.for</a:t>
            </a:r>
            <a:r>
              <a:rPr sz="1200">
                <a:solidFill>
                  <a:srgbClr val="C9D1D9"/>
                </a:solidFill>
                <a:latin typeface="Consolas"/>
              </a:rPr>
              <a:t> %i = %lo to %hi step %st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%va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 %ha[%i] 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%vb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 %hb[%i] 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%vc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arith.addf</a:t>
            </a:r>
            <a:r>
              <a:rPr sz="1200">
                <a:solidFill>
                  <a:srgbClr val="C9D1D9"/>
                </a:solidFill>
                <a:latin typeface="Consolas"/>
              </a:rPr>
              <a:t>   %va, %vb :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memref.store</a:t>
            </a:r>
            <a:r>
              <a:rPr sz="1200">
                <a:solidFill>
                  <a:srgbClr val="C9D1D9"/>
                </a:solidFill>
                <a:latin typeface="Consolas"/>
              </a:rPr>
              <a:t> %vc, %hc[%i]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air.herd</a:t>
            </a:r>
            <a:r>
              <a:rPr sz="1200">
                <a:solidFill>
                  <a:srgbClr val="C9D1D9"/>
                </a:solidFill>
                <a:latin typeface="Consolas"/>
              </a:rPr>
              <a:t>_terminator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air.segment</a:t>
            </a:r>
            <a:r>
              <a:rPr sz="1200">
                <a:solidFill>
                  <a:srgbClr val="C9D1D9"/>
                </a:solidFill>
                <a:latin typeface="Consolas"/>
              </a:rPr>
              <a:t>_terminator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air.launch</a:t>
            </a:r>
            <a:r>
              <a:rPr sz="1200">
                <a:solidFill>
                  <a:srgbClr val="C9D1D9"/>
                </a:solidFill>
                <a:latin typeface="Consolas"/>
              </a:rPr>
              <a:t>_terminator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return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After -air-to-csl  ·  structured csl.wafer 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The herd body is preserved verbatim; placement and host I/O are made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1751640"/>
            <a:ext cx="11127120" cy="44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csl.wafer</a:t>
            </a:r>
            <a:r>
              <a:rPr sz="1200">
                <a:solidFill>
                  <a:srgbClr val="C9D1D9"/>
                </a:solidFill>
                <a:latin typeface="Consolas"/>
              </a:rPr>
              <a:t> @vecadd {arch = "wse3"}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csl.program</a:t>
            </a:r>
            <a:r>
              <a:rPr sz="1200">
                <a:solidFill>
                  <a:srgbClr val="C9D1D9"/>
                </a:solidFill>
                <a:latin typeface="Consolas"/>
              </a:rPr>
              <a:t> @pe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%a =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csl.var</a:t>
            </a:r>
            <a:r>
              <a:rPr sz="1200">
                <a:solidFill>
                  <a:srgbClr val="C9D1D9"/>
                </a:solidFill>
                <a:latin typeface="Consolas"/>
              </a:rPr>
              <a:t> @a 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%b =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csl.var</a:t>
            </a:r>
            <a:r>
              <a:rPr sz="1200">
                <a:solidFill>
                  <a:srgbClr val="C9D1D9"/>
                </a:solidFill>
                <a:latin typeface="Consolas"/>
              </a:rPr>
              <a:t> @b 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%c =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csl.var</a:t>
            </a:r>
            <a:r>
              <a:rPr sz="1200">
                <a:solidFill>
                  <a:srgbClr val="C9D1D9"/>
                </a:solidFill>
                <a:latin typeface="Consolas"/>
              </a:rPr>
              <a:t> @c 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&lt;256xf32&gt;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csl.func</a:t>
            </a:r>
            <a:r>
              <a:rPr sz="1200">
                <a:solidFill>
                  <a:srgbClr val="C9D1D9"/>
                </a:solidFill>
                <a:latin typeface="Consolas"/>
              </a:rPr>
              <a:t> @compute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708090"/>
                </a:solidFill>
                <a:latin typeface="Consolas"/>
              </a:rPr>
              <a:t>// ... unchanged scf.for body from AIR herd ...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csl.return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csl.export</a:t>
            </a:r>
            <a:r>
              <a:rPr sz="1200">
                <a:solidFill>
                  <a:srgbClr val="C9D1D9"/>
                </a:solidFill>
                <a:latin typeface="Consolas"/>
              </a:rPr>
              <a:t> @a {alias = "a"}     // -csl-infer-exports fills these in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csl.export</a:t>
            </a:r>
            <a:r>
              <a:rPr sz="1200">
                <a:solidFill>
                  <a:srgbClr val="C9D1D9"/>
                </a:solidFill>
                <a:latin typeface="Consolas"/>
              </a:rPr>
              <a:t> @b {alias = "b"}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csl.export</a:t>
            </a:r>
            <a:r>
              <a:rPr sz="1200">
                <a:solidFill>
                  <a:srgbClr val="C9D1D9"/>
                </a:solidFill>
                <a:latin typeface="Consolas"/>
              </a:rPr>
              <a:t> @c {alias = "c"}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csl.export</a:t>
            </a:r>
            <a:r>
              <a:rPr sz="1200">
                <a:solidFill>
                  <a:srgbClr val="C9D1D9"/>
                </a:solidFill>
                <a:latin typeface="Consolas"/>
              </a:rPr>
              <a:t> @compute {kind = "func"}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csl.layout</a:t>
            </a:r>
            <a:r>
              <a:rPr sz="1200">
                <a:solidFill>
                  <a:srgbClr val="C9D1D9"/>
                </a:solidFill>
                <a:latin typeface="Consolas"/>
              </a:rPr>
              <a:t> {width = 1, height = 1} @main_layout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csl_layout.place</a:t>
            </a:r>
            <a:r>
              <a:rPr sz="1200">
                <a:solidFill>
                  <a:srgbClr val="C9D1D9"/>
                </a:solidFill>
                <a:latin typeface="Consolas"/>
              </a:rPr>
              <a:t> @pe </a:t>
            </a:r>
            <a:r>
              <a:rPr sz="1200" b="1">
                <a:solidFill>
                  <a:srgbClr val="FF9D55"/>
                </a:solidFill>
                <a:latin typeface="Consolas"/>
              </a:rPr>
              <a:t>at</a:t>
            </a:r>
            <a:r>
              <a:rPr sz="1200">
                <a:solidFill>
                  <a:srgbClr val="C9D1D9"/>
                </a:solidFill>
                <a:latin typeface="Consolas"/>
              </a:rPr>
              <a:t> (0, 0)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csl.host</a:t>
            </a:r>
            <a:r>
              <a:rPr sz="1200">
                <a:solidFill>
                  <a:srgbClr val="C9D1D9"/>
                </a:solidFill>
                <a:latin typeface="Consolas"/>
              </a:rPr>
              <a:t> @main(%a_in: ..., %b_in: ..., %c_out: ...) {layout=@main_layout}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csl_host.memcpy_h2d</a:t>
            </a:r>
            <a:r>
              <a:rPr sz="1200">
                <a:solidFill>
                  <a:srgbClr val="C9D1D9"/>
                </a:solidFill>
                <a:latin typeface="Consolas"/>
              </a:rPr>
              <a:t> %a_in to @main_layout::@a {px=0, py=0, ...}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csl_host.memcpy_h2d</a:t>
            </a:r>
            <a:r>
              <a:rPr sz="1200">
                <a:solidFill>
                  <a:srgbClr val="C9D1D9"/>
                </a:solidFill>
                <a:latin typeface="Consolas"/>
              </a:rPr>
              <a:t> %b_in to @main_layout::@b ...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csl_host.launch</a:t>
            </a:r>
            <a:r>
              <a:rPr sz="1200">
                <a:solidFill>
                  <a:srgbClr val="C9D1D9"/>
                </a:solidFill>
                <a:latin typeface="Consolas"/>
              </a:rPr>
              <a:t>     @main_layout::@compute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csl_host.memcpy_d2h</a:t>
            </a:r>
            <a:r>
              <a:rPr sz="1200">
                <a:solidFill>
                  <a:srgbClr val="C9D1D9"/>
                </a:solidFill>
                <a:latin typeface="Consolas"/>
              </a:rPr>
              <a:t> @main_layout::@c to %c_out ...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What --emit-csl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Three text artifacts, byte-for-byte runnable on the Cerebras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pe.csl  (per-PE kernel)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6576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25960"/>
            <a:ext cx="35376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param</a:t>
            </a:r>
            <a:r>
              <a:rPr sz="1000">
                <a:solidFill>
                  <a:srgbClr val="C9D1D9"/>
                </a:solidFill>
                <a:latin typeface="Consolas"/>
              </a:rPr>
              <a:t> memcpy_params: </a:t>
            </a:r>
            <a:r>
              <a:rPr sz="1000" b="1">
                <a:solidFill>
                  <a:srgbClr val="FF9D55"/>
                </a:solidFill>
                <a:latin typeface="Consolas"/>
              </a:rPr>
              <a:t>comptime</a:t>
            </a:r>
            <a:r>
              <a:rPr sz="1000">
                <a:solidFill>
                  <a:srgbClr val="C9D1D9"/>
                </a:solidFill>
                <a:latin typeface="Consolas"/>
              </a:rPr>
              <a:t>_struct;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000">
                <a:solidFill>
                  <a:srgbClr val="C9D1D9"/>
                </a:solidFill>
                <a:latin typeface="Consolas"/>
              </a:rPr>
              <a:t> sys_mod = </a:t>
            </a:r>
            <a:r>
              <a:rPr sz="1000" b="1">
                <a:solidFill>
                  <a:srgbClr val="FF9D55"/>
                </a:solidFill>
                <a:latin typeface="Consolas"/>
              </a:rPr>
              <a:t>@import_module</a:t>
            </a:r>
            <a:r>
              <a:rPr sz="1000">
                <a:solidFill>
                  <a:srgbClr val="C9D1D9"/>
                </a:solidFill>
                <a:latin typeface="Consolas"/>
              </a:rPr>
              <a:t>(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"&lt;memcpy/memcpy&gt;", memcpy_params);</a:t>
            </a:r>
          </a:p>
          <a:p>
            <a:pPr algn="l"/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arg0: [256]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;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arg1: [256]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;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arg2: [256]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;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arg0_ptr: [*]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 = &amp;arg0;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arg1_ptr: [*]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 = &amp;arg1;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000">
                <a:solidFill>
                  <a:srgbClr val="C9D1D9"/>
                </a:solidFill>
                <a:latin typeface="Consolas"/>
              </a:rPr>
              <a:t> arg2_ptr: [*]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 = &amp;arg2;</a:t>
            </a:r>
          </a:p>
          <a:p>
            <a:pPr algn="l"/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fn</a:t>
            </a:r>
            <a:r>
              <a:rPr sz="1000">
                <a:solidFill>
                  <a:srgbClr val="C9D1D9"/>
                </a:solidFill>
                <a:latin typeface="Consolas"/>
              </a:rPr>
              <a:t> compute() </a:t>
            </a:r>
            <a:r>
              <a:rPr sz="1000" b="1">
                <a:solidFill>
                  <a:srgbClr val="FF9D55"/>
                </a:solidFill>
                <a:latin typeface="Consolas"/>
              </a:rPr>
              <a:t>void</a:t>
            </a:r>
            <a:r>
              <a:rPr sz="10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i: </a:t>
            </a:r>
            <a:r>
              <a:rPr sz="1000" b="1">
                <a:solidFill>
                  <a:srgbClr val="FF9D55"/>
                </a:solidFill>
                <a:latin typeface="Consolas"/>
              </a:rPr>
              <a:t>u16</a:t>
            </a:r>
            <a:r>
              <a:rPr sz="1000">
                <a:solidFill>
                  <a:srgbClr val="C9D1D9"/>
                </a:solidFill>
                <a:latin typeface="Consolas"/>
              </a:rPr>
              <a:t> = 0;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while</a:t>
            </a:r>
            <a:r>
              <a:rPr sz="1000">
                <a:solidFill>
                  <a:srgbClr val="C9D1D9"/>
                </a:solidFill>
                <a:latin typeface="Consolas"/>
              </a:rPr>
              <a:t> (i &lt; 256) : (i += 1)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</a:t>
            </a:r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va = arg0[i];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</a:t>
            </a:r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vb = arg1[i];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</a:t>
            </a:r>
            <a:r>
              <a:rPr sz="1000" b="1">
                <a:solidFill>
                  <a:srgbClr val="FF9D55"/>
                </a:solidFill>
                <a:latin typeface="Consolas"/>
              </a:rPr>
              <a:t>var</a:t>
            </a:r>
            <a:r>
              <a:rPr sz="1000">
                <a:solidFill>
                  <a:srgbClr val="C9D1D9"/>
                </a:solidFill>
                <a:latin typeface="Consolas"/>
              </a:rPr>
              <a:t> vc: </a:t>
            </a:r>
            <a:r>
              <a:rPr sz="1000" b="1">
                <a:solidFill>
                  <a:srgbClr val="FF9D55"/>
                </a:solidFill>
                <a:latin typeface="Consolas"/>
              </a:rPr>
              <a:t>f32</a:t>
            </a:r>
            <a:r>
              <a:rPr sz="1000">
                <a:solidFill>
                  <a:srgbClr val="C9D1D9"/>
                </a:solidFill>
                <a:latin typeface="Consolas"/>
              </a:rPr>
              <a:t> = va + vb;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</a:t>
            </a:r>
            <a:r>
              <a:rPr sz="1000">
                <a:solidFill>
                  <a:srgbClr val="C9D1D9"/>
                </a:solidFill>
                <a:latin typeface="Consolas"/>
              </a:rPr>
              <a:t>arg2[i] = vc;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>
                <a:solidFill>
                  <a:srgbClr val="C9D1D9"/>
                </a:solidFill>
                <a:latin typeface="Consolas"/>
              </a:rPr>
              <a:t>sys_mod.unblock_cmd_stream();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comptime</a:t>
            </a:r>
            <a:r>
              <a:rPr sz="10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@export_symbol</a:t>
            </a:r>
            <a:r>
              <a:rPr sz="1000">
                <a:solidFill>
                  <a:srgbClr val="C9D1D9"/>
                </a:solidFill>
                <a:latin typeface="Consolas"/>
              </a:rPr>
              <a:t>(arg0_ptr, "arg0");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@export_symbol</a:t>
            </a:r>
            <a:r>
              <a:rPr sz="1000">
                <a:solidFill>
                  <a:srgbClr val="C9D1D9"/>
                </a:solidFill>
                <a:latin typeface="Consolas"/>
              </a:rPr>
              <a:t>(arg1_ptr, "arg1");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@export_symbol</a:t>
            </a:r>
            <a:r>
              <a:rPr sz="1000">
                <a:solidFill>
                  <a:srgbClr val="C9D1D9"/>
                </a:solidFill>
                <a:latin typeface="Consolas"/>
              </a:rPr>
              <a:t>(arg2_ptr, "arg2");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@export_symbol</a:t>
            </a:r>
            <a:r>
              <a:rPr sz="1000">
                <a:solidFill>
                  <a:srgbClr val="C9D1D9"/>
                </a:solidFill>
                <a:latin typeface="Consolas"/>
              </a:rPr>
              <a:t>(compute);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layout.csl  (host-side wrapper)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6576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7680" y="2025960"/>
            <a:ext cx="35376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000">
                <a:solidFill>
                  <a:srgbClr val="C9D1D9"/>
                </a:solidFill>
                <a:latin typeface="Consolas"/>
              </a:rPr>
              <a:t> memcpy = </a:t>
            </a:r>
            <a:r>
              <a:rPr sz="1000" b="1">
                <a:solidFill>
                  <a:srgbClr val="FF9D55"/>
                </a:solidFill>
                <a:latin typeface="Consolas"/>
              </a:rPr>
              <a:t>@import_module</a:t>
            </a:r>
            <a:r>
              <a:rPr sz="1000">
                <a:solidFill>
                  <a:srgbClr val="C9D1D9"/>
                </a:solidFill>
                <a:latin typeface="Consolas"/>
              </a:rPr>
              <a:t>(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"&lt;memcpy/get_params&gt;", .{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.width  = 1,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.height = 1,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layout</a:t>
            </a:r>
            <a:r>
              <a:rPr sz="10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@set_rectangle</a:t>
            </a:r>
            <a:r>
              <a:rPr sz="1000">
                <a:solidFill>
                  <a:srgbClr val="C9D1D9"/>
                </a:solidFill>
                <a:latin typeface="Consolas"/>
              </a:rPr>
              <a:t>(1, 1);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 b="1">
                <a:solidFill>
                  <a:srgbClr val="FF9D55"/>
                </a:solidFill>
                <a:latin typeface="Consolas"/>
              </a:rPr>
              <a:t>@set_tile_code</a:t>
            </a:r>
            <a:r>
              <a:rPr sz="1000">
                <a:solidFill>
                  <a:srgbClr val="C9D1D9"/>
                </a:solidFill>
                <a:latin typeface="Consolas"/>
              </a:rPr>
              <a:t>(0, 0, "h.csl", .{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</a:t>
            </a:r>
            <a:r>
              <a:rPr sz="1000">
                <a:solidFill>
                  <a:srgbClr val="C9D1D9"/>
                </a:solidFill>
                <a:latin typeface="Consolas"/>
              </a:rPr>
              <a:t>.memcpy_params = memcpy.get_params(0)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</a:t>
            </a:r>
            <a:r>
              <a:rPr sz="10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run.py  (host driver + numpy check)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65960"/>
            <a:ext cx="36576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8160" y="2025960"/>
            <a:ext cx="35376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import</a:t>
            </a:r>
            <a:r>
              <a:rPr sz="1000">
                <a:solidFill>
                  <a:srgbClr val="C9D1D9"/>
                </a:solidFill>
                <a:latin typeface="Consolas"/>
              </a:rPr>
              <a:t> argparse, numpy </a:t>
            </a:r>
            <a:r>
              <a:rPr sz="1000" b="1">
                <a:solidFill>
                  <a:srgbClr val="FF9D55"/>
                </a:solidFill>
                <a:latin typeface="Consolas"/>
              </a:rPr>
              <a:t>as</a:t>
            </a:r>
            <a:r>
              <a:rPr sz="1000">
                <a:solidFill>
                  <a:srgbClr val="C9D1D9"/>
                </a:solidFill>
                <a:latin typeface="Consolas"/>
              </a:rPr>
              <a:t> np</a:t>
            </a:r>
          </a:p>
          <a:p>
            <a:pPr algn="l"/>
            <a:r>
              <a:rPr sz="1000" b="1">
                <a:solidFill>
                  <a:srgbClr val="FF9D55"/>
                </a:solidFill>
                <a:latin typeface="Consolas"/>
              </a:rPr>
              <a:t>from</a:t>
            </a:r>
            <a:r>
              <a:rPr sz="1000">
                <a:solidFill>
                  <a:srgbClr val="C9D1D9"/>
                </a:solidFill>
                <a:latin typeface="Consolas"/>
              </a:rPr>
              <a:t> cerebras.sdk.runtime\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</a:t>
            </a:r>
            <a:r>
              <a:rPr sz="1000">
                <a:solidFill>
                  <a:srgbClr val="C9D1D9"/>
                </a:solidFill>
                <a:latin typeface="Consolas"/>
              </a:rPr>
              <a:t>.sdkruntimepybind </a:t>
            </a:r>
            <a:r>
              <a:rPr sz="1000" b="1">
                <a:solidFill>
                  <a:srgbClr val="FF9D55"/>
                </a:solidFill>
                <a:latin typeface="Consolas"/>
              </a:rPr>
              <a:t>import</a:t>
            </a:r>
            <a:r>
              <a:rPr sz="1000">
                <a:solidFill>
                  <a:srgbClr val="C9D1D9"/>
                </a:solidFill>
                <a:latin typeface="Consolas"/>
              </a:rPr>
              <a:t> (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    </a:t>
            </a:r>
            <a:r>
              <a:rPr sz="1000">
                <a:solidFill>
                  <a:srgbClr val="C9D1D9"/>
                </a:solidFill>
                <a:latin typeface="Consolas"/>
              </a:rPr>
              <a:t>SdkRuntime, MemcpyOrder,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    </a:t>
            </a:r>
            <a:r>
              <a:rPr sz="1000">
                <a:solidFill>
                  <a:srgbClr val="C9D1D9"/>
                </a:solidFill>
                <a:latin typeface="Consolas"/>
              </a:rPr>
              <a:t>MemcpyDataType,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N = 256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arg0 = np.arange(N, dtype=np.float32)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arg1 = np.arange(N, dtype=np.float32)*2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arg2 = np.zeros(N, dtype=np.float32)</a:t>
            </a:r>
          </a:p>
          <a:p>
            <a:pPr algn="l"/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 = SdkRuntime(args.name,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simfab_numthreads=32)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runner.load(); runner.run()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runner.memcpy_h2d(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runner.get_id("arg0"), arg0,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</a:t>
            </a:r>
            <a:r>
              <a:rPr sz="1000">
                <a:solidFill>
                  <a:srgbClr val="C9D1D9"/>
                </a:solidFill>
                <a:latin typeface="Consolas"/>
              </a:rPr>
              <a:t>0, 0, 1, 1, 256, ...)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runner.memcpy_h2d(...)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runner.launch("compute",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              </a:t>
            </a:r>
            <a:r>
              <a:rPr sz="1000">
                <a:solidFill>
                  <a:srgbClr val="C9D1D9"/>
                </a:solidFill>
                <a:latin typeface="Consolas"/>
              </a:rPr>
              <a:t>nonblock=</a:t>
            </a:r>
            <a:r>
              <a:rPr sz="1000" b="1">
                <a:solidFill>
                  <a:srgbClr val="FF9D55"/>
                </a:solidFill>
                <a:latin typeface="Consolas"/>
              </a:rPr>
              <a:t>False</a:t>
            </a:r>
            <a:r>
              <a:rPr sz="1000">
                <a:solidFill>
                  <a:srgbClr val="C9D1D9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runner.memcpy_d2h(arg2, ...)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runner.stop()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Consolas"/>
              </a:rPr>
              <a:t>print("SUCCESS!")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DSDs  ·  Cerebras's data-structure-descriptor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csl.get_mem_dsd builds a runtime-time DSD from a memref; csl.builtin_call dispatches the SDK intrinsic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MLIR  —  saxpy via DSDs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csl.func</a:t>
            </a:r>
            <a:r>
              <a:rPr sz="1200">
                <a:solidFill>
                  <a:srgbClr val="C9D1D9"/>
                </a:solidFill>
                <a:latin typeface="Consolas"/>
              </a:rPr>
              <a:t> @compute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%c0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0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%a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%alpha[%c0]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%xd =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csl.get_mem_dsd</a:t>
            </a:r>
            <a:r>
              <a:rPr sz="1200">
                <a:solidFill>
                  <a:srgbClr val="C9D1D9"/>
                </a:solidFill>
                <a:latin typeface="Consolas"/>
              </a:rPr>
              <a:t> %x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&lt;128xf32&gt; -&gt; !csl.dsd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%yd =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csl.get_mem_dsd</a:t>
            </a:r>
            <a:r>
              <a:rPr sz="1200">
                <a:solidFill>
                  <a:srgbClr val="C9D1D9"/>
                </a:solidFill>
                <a:latin typeface="Consolas"/>
              </a:rPr>
              <a:t> %y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&lt;128xf32&gt; -&gt; !csl.dsd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csl.builtin_call</a:t>
            </a:r>
            <a:r>
              <a:rPr sz="1200">
                <a:solidFill>
                  <a:srgbClr val="C9D1D9"/>
                </a:solidFill>
                <a:latin typeface="Consolas"/>
              </a:rPr>
              <a:t> "fmacs"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(%yd, %yd, %xd, %a)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: (!csl.dsd, !csl.dsd,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</a:t>
            </a:r>
            <a:r>
              <a:rPr sz="1200">
                <a:solidFill>
                  <a:srgbClr val="C9D1D9"/>
                </a:solidFill>
                <a:latin typeface="Consolas"/>
              </a:rPr>
              <a:t>!csl.dsd,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  <a:r>
              <a:rPr sz="1200">
                <a:solidFill>
                  <a:srgbClr val="C9D1D9"/>
                </a:solidFill>
                <a:latin typeface="Consolas"/>
              </a:rPr>
              <a:t>) -&gt; ()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csl.return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Emitted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864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3664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fn</a:t>
            </a:r>
            <a:r>
              <a:rPr sz="1200">
                <a:solidFill>
                  <a:srgbClr val="C9D1D9"/>
                </a:solidFill>
                <a:latin typeface="Consolas"/>
              </a:rPr>
              <a:t> compute() </a:t>
            </a:r>
            <a:r>
              <a:rPr sz="1200" b="1">
                <a:solidFill>
                  <a:srgbClr val="FF9D55"/>
                </a:solidFill>
                <a:latin typeface="Consolas"/>
              </a:rPr>
              <a:t>void</a:t>
            </a:r>
            <a:r>
              <a:rPr sz="12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xd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&amp;x,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.extent = 128,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yd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&amp;y,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</a:t>
            </a:r>
            <a:r>
              <a:rPr sz="1200">
                <a:solidFill>
                  <a:srgbClr val="C9D1D9"/>
                </a:solidFill>
                <a:latin typeface="Consolas"/>
              </a:rPr>
              <a:t>.extent = 128,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@fmacs</a:t>
            </a:r>
            <a:r>
              <a:rPr sz="1200">
                <a:solidFill>
                  <a:srgbClr val="C9D1D9"/>
                </a:solidFill>
                <a:latin typeface="Consolas"/>
              </a:rPr>
              <a:t>(yd, yd, xd, alpha[0]);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Strided DSDs  ·  driven by memref.subview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Default stride/offset collapse to bare @get_dsd; non-defaults emit .stride or @increment_dsd_offset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338560" cy="4572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94767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memref.subview args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94767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Emitted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338560" cy="9601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74D"/>
                </a:solidFill>
                <a:latin typeface="Consolas"/>
              </a:rPr>
              <a:t>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57860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onsolas"/>
              </a:rPr>
              <a:t>no subview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395728"/>
            <a:ext cx="649224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C9D1D9"/>
                </a:solidFill>
                <a:latin typeface="Consolas"/>
              </a:rPr>
              <a:t>@get_dsd(mem1d_dsd, .{ .base_address = &amp;x, .extent = 128 });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338560" cy="9601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3872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74D"/>
                </a:solidFill>
                <a:latin typeface="Consolas"/>
              </a:rPr>
              <a:t>offset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3872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onsolas"/>
              </a:rPr>
              <a:t>subview %x[8] [64] 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355848"/>
            <a:ext cx="649224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C9D1D9"/>
                </a:solidFill>
                <a:latin typeface="Consolas"/>
              </a:rPr>
              <a:t>@get_dsd(...) .extent=64;</a:t>
            </a:r>
          </a:p>
          <a:p>
            <a:r>
              <a:rPr sz="1100">
                <a:solidFill>
                  <a:srgbClr val="C9D1D9"/>
                </a:solidFill>
                <a:latin typeface="Consolas"/>
              </a:rPr>
              <a:t>@increment_dsd_offset(d, 8, f32);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1338560" cy="9601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9884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74D"/>
                </a:solidFill>
                <a:latin typeface="Consolas"/>
              </a:rPr>
              <a:t>stride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4988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onsolas"/>
              </a:rPr>
              <a:t>subview %x[0] [32] 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315968"/>
            <a:ext cx="649224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C9D1D9"/>
                </a:solidFill>
                <a:latin typeface="Consolas"/>
              </a:rPr>
              <a:t>@get_dsd(mem1d_dsd, .{ .base_address = &amp;x, .extent = 32, .stride = 4 });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11338560" cy="9601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5896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74D"/>
                </a:solidFill>
                <a:latin typeface="Consolas"/>
              </a:rPr>
              <a:t>both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4589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onsolas"/>
              </a:rPr>
              <a:t>subview %x[3] [32] 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5276088"/>
            <a:ext cx="6492240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C9D1D9"/>
                </a:solidFill>
                <a:latin typeface="Consolas"/>
              </a:rPr>
              <a:t>@get_dsd(... .extent=32, .stride=4);</a:t>
            </a:r>
          </a:p>
          <a:p>
            <a:r>
              <a:rPr sz="1100">
                <a:solidFill>
                  <a:srgbClr val="C9D1D9"/>
                </a:solidFill>
                <a:latin typeface="Consolas"/>
              </a:rPr>
              <a:t>@increment_dsd_offset(d, 3, f32);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Subgrid Placement  ·  one program, many 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csl_layout.place @pe over [0:4, 0:2]  →  same kernel runs on 8 PEs, host shards 256 elems → 32/PE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MLIR — N-PE SIMD saxpy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D55"/>
                </a:solidFill>
                <a:latin typeface="Consolas"/>
              </a:rPr>
              <a:t>csl.wafer</a:t>
            </a:r>
            <a:r>
              <a:rPr sz="1100">
                <a:solidFill>
                  <a:srgbClr val="C9D1D9"/>
                </a:solidFill>
                <a:latin typeface="Consolas"/>
              </a:rPr>
              <a:t> @simd {arch = "wse3"}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csl.program</a:t>
            </a:r>
            <a:r>
              <a:rPr sz="1100">
                <a:solidFill>
                  <a:srgbClr val="C9D1D9"/>
                </a:solidFill>
                <a:latin typeface="Consolas"/>
              </a:rPr>
              <a:t> @pe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%A =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csl.var</a:t>
            </a:r>
            <a:r>
              <a:rPr sz="1100">
                <a:solidFill>
                  <a:srgbClr val="C9D1D9"/>
                </a:solidFill>
                <a:latin typeface="Consolas"/>
              </a:rPr>
              <a:t> @A :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100">
                <a:solidFill>
                  <a:srgbClr val="C9D1D9"/>
                </a:solidFill>
                <a:latin typeface="Consolas"/>
              </a:rPr>
              <a:t>&lt;32xf32&gt;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%y =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csl.var</a:t>
            </a:r>
            <a:r>
              <a:rPr sz="1100">
                <a:solidFill>
                  <a:srgbClr val="C9D1D9"/>
                </a:solidFill>
                <a:latin typeface="Consolas"/>
              </a:rPr>
              <a:t> @y :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100">
                <a:solidFill>
                  <a:srgbClr val="C9D1D9"/>
                </a:solidFill>
                <a:latin typeface="Consolas"/>
              </a:rPr>
              <a:t>&lt;32xf32&gt;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csl.func</a:t>
            </a:r>
            <a:r>
              <a:rPr sz="1100">
                <a:solidFill>
                  <a:srgbClr val="C9D1D9"/>
                </a:solidFill>
                <a:latin typeface="Consolas"/>
              </a:rPr>
              <a:t> @compute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</a:t>
            </a:r>
            <a:r>
              <a:rPr sz="1100">
                <a:solidFill>
                  <a:srgbClr val="C9D1D9"/>
                </a:solidFill>
                <a:latin typeface="Consolas"/>
              </a:rPr>
              <a:t>%a  = </a:t>
            </a:r>
            <a:r>
              <a:rPr sz="11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100">
                <a:solidFill>
                  <a:srgbClr val="C9D1D9"/>
                </a:solidFill>
                <a:latin typeface="Consolas"/>
              </a:rPr>
              <a:t> 2.0 : </a:t>
            </a:r>
            <a:r>
              <a:rPr sz="1100" b="1">
                <a:solidFill>
                  <a:srgbClr val="FF9D55"/>
                </a:solidFill>
                <a:latin typeface="Consolas"/>
              </a:rPr>
              <a:t>f32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</a:t>
            </a:r>
            <a:r>
              <a:rPr sz="1100">
                <a:solidFill>
                  <a:srgbClr val="C9D1D9"/>
                </a:solidFill>
                <a:latin typeface="Consolas"/>
              </a:rPr>
              <a:t>%Ad =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csl.get_mem_dsd</a:t>
            </a:r>
            <a:r>
              <a:rPr sz="1100">
                <a:solidFill>
                  <a:srgbClr val="C9D1D9"/>
                </a:solidFill>
                <a:latin typeface="Consolas"/>
              </a:rPr>
              <a:t> %A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      </a:t>
            </a:r>
            <a:r>
              <a:rPr sz="1100">
                <a:solidFill>
                  <a:srgbClr val="C9D1D9"/>
                </a:solidFill>
                <a:latin typeface="Consolas"/>
              </a:rPr>
              <a:t>: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100">
                <a:solidFill>
                  <a:srgbClr val="C9D1D9"/>
                </a:solidFill>
                <a:latin typeface="Consolas"/>
              </a:rPr>
              <a:t>&lt;32xf32&gt; -&gt; !csl.dsd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</a:t>
            </a:r>
            <a:r>
              <a:rPr sz="1100">
                <a:solidFill>
                  <a:srgbClr val="C9D1D9"/>
                </a:solidFill>
                <a:latin typeface="Consolas"/>
              </a:rPr>
              <a:t>%yd =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csl.get_mem_dsd</a:t>
            </a:r>
            <a:r>
              <a:rPr sz="1100">
                <a:solidFill>
                  <a:srgbClr val="C9D1D9"/>
                </a:solidFill>
                <a:latin typeface="Consolas"/>
              </a:rPr>
              <a:t> %y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      </a:t>
            </a:r>
            <a:r>
              <a:rPr sz="1100">
                <a:solidFill>
                  <a:srgbClr val="C9D1D9"/>
                </a:solidFill>
                <a:latin typeface="Consolas"/>
              </a:rPr>
              <a:t>: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100">
                <a:solidFill>
                  <a:srgbClr val="C9D1D9"/>
                </a:solidFill>
                <a:latin typeface="Consolas"/>
              </a:rPr>
              <a:t>&lt;32xf32&gt; -&gt; !csl.dsd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csl.builtin_call</a:t>
            </a:r>
            <a:r>
              <a:rPr sz="1100">
                <a:solidFill>
                  <a:srgbClr val="C9D1D9"/>
                </a:solidFill>
                <a:latin typeface="Consolas"/>
              </a:rPr>
              <a:t> "fmacs"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    </a:t>
            </a:r>
            <a:r>
              <a:rPr sz="1100">
                <a:solidFill>
                  <a:srgbClr val="C9D1D9"/>
                </a:solidFill>
                <a:latin typeface="Consolas"/>
              </a:rPr>
              <a:t>(%yd, %yd, %Ad, %a)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csl.return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csl.layout</a:t>
            </a:r>
            <a:r>
              <a:rPr sz="1100">
                <a:solidFill>
                  <a:srgbClr val="C9D1D9"/>
                </a:solidFill>
                <a:latin typeface="Consolas"/>
              </a:rPr>
              <a:t> {width=4, height=2} @layout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csl_layout.place</a:t>
            </a:r>
            <a:r>
              <a:rPr sz="1100">
                <a:solidFill>
                  <a:srgbClr val="C9D1D9"/>
                </a:solidFill>
                <a:latin typeface="Consolas"/>
              </a:rPr>
              <a:t> @pe </a:t>
            </a:r>
            <a:r>
              <a:rPr sz="1100" b="1">
                <a:solidFill>
                  <a:srgbClr val="FF9D55"/>
                </a:solidFill>
                <a:latin typeface="Consolas"/>
              </a:rPr>
              <a:t>over</a:t>
            </a:r>
            <a:r>
              <a:rPr sz="1100">
                <a:solidFill>
                  <a:srgbClr val="C9D1D9"/>
                </a:solidFill>
                <a:latin typeface="Consolas"/>
              </a:rPr>
              <a:t> [0:4, 0:2]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csl.host</a:t>
            </a:r>
            <a:r>
              <a:rPr sz="1100">
                <a:solidFill>
                  <a:srgbClr val="C9D1D9"/>
                </a:solidFill>
                <a:latin typeface="Consolas"/>
              </a:rPr>
              <a:t> @main(...)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csl_host.memcpy_h2d</a:t>
            </a:r>
            <a:r>
              <a:rPr sz="1100">
                <a:solidFill>
                  <a:srgbClr val="C9D1D9"/>
                </a:solidFill>
                <a:latin typeface="Consolas"/>
              </a:rPr>
              <a:t>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  </a:t>
            </a:r>
            <a:r>
              <a:rPr sz="1100">
                <a:solidFill>
                  <a:srgbClr val="C9D1D9"/>
                </a:solidFill>
                <a:latin typeface="Consolas"/>
              </a:rPr>
              <a:t>{px=0, py=0, width=4, height=2}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  </a:t>
            </a:r>
            <a:r>
              <a:rPr sz="1100">
                <a:solidFill>
                  <a:srgbClr val="C9D1D9"/>
                </a:solidFill>
                <a:latin typeface="Consolas"/>
              </a:rPr>
              <a:t>: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100">
                <a:solidFill>
                  <a:srgbClr val="C9D1D9"/>
                </a:solidFill>
                <a:latin typeface="Consolas"/>
              </a:rPr>
              <a:t>&lt;8x32xf32&gt;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Emitted layout.csl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86400" cy="1828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366400" cy="170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D55"/>
                </a:solidFill>
                <a:latin typeface="Consolas"/>
              </a:rPr>
              <a:t>layout</a:t>
            </a:r>
            <a:r>
              <a:rPr sz="11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@set_rectangle</a:t>
            </a:r>
            <a:r>
              <a:rPr sz="1100">
                <a:solidFill>
                  <a:srgbClr val="C9D1D9"/>
                </a:solidFill>
                <a:latin typeface="Consolas"/>
              </a:rPr>
              <a:t>(4, 2);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var</a:t>
            </a:r>
            <a:r>
              <a:rPr sz="1100">
                <a:solidFill>
                  <a:srgbClr val="C9D1D9"/>
                </a:solidFill>
                <a:latin typeface="Consolas"/>
              </a:rPr>
              <a:t> px: </a:t>
            </a:r>
            <a:r>
              <a:rPr sz="1100" b="1">
                <a:solidFill>
                  <a:srgbClr val="FF9D55"/>
                </a:solidFill>
                <a:latin typeface="Consolas"/>
              </a:rPr>
              <a:t>u16</a:t>
            </a:r>
            <a:r>
              <a:rPr sz="1100">
                <a:solidFill>
                  <a:srgbClr val="C9D1D9"/>
                </a:solidFill>
                <a:latin typeface="Consolas"/>
              </a:rPr>
              <a:t> = 0;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while</a:t>
            </a:r>
            <a:r>
              <a:rPr sz="1100">
                <a:solidFill>
                  <a:srgbClr val="C9D1D9"/>
                </a:solidFill>
                <a:latin typeface="Consolas"/>
              </a:rPr>
              <a:t> (px &lt; 4) : (px += 1)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var</a:t>
            </a:r>
            <a:r>
              <a:rPr sz="1100">
                <a:solidFill>
                  <a:srgbClr val="C9D1D9"/>
                </a:solidFill>
                <a:latin typeface="Consolas"/>
              </a:rPr>
              <a:t> py: </a:t>
            </a:r>
            <a:r>
              <a:rPr sz="1100" b="1">
                <a:solidFill>
                  <a:srgbClr val="FF9D55"/>
                </a:solidFill>
                <a:latin typeface="Consolas"/>
              </a:rPr>
              <a:t>u16</a:t>
            </a:r>
            <a:r>
              <a:rPr sz="1100">
                <a:solidFill>
                  <a:srgbClr val="C9D1D9"/>
                </a:solidFill>
                <a:latin typeface="Consolas"/>
              </a:rPr>
              <a:t> = 0;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while</a:t>
            </a:r>
            <a:r>
              <a:rPr sz="1100">
                <a:solidFill>
                  <a:srgbClr val="C9D1D9"/>
                </a:solidFill>
                <a:latin typeface="Consolas"/>
              </a:rPr>
              <a:t> (py &lt; 2) : (py += 1)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@set_tile_code</a:t>
            </a:r>
            <a:r>
              <a:rPr sz="1100">
                <a:solidFill>
                  <a:srgbClr val="C9D1D9"/>
                </a:solidFill>
                <a:latin typeface="Consolas"/>
              </a:rPr>
              <a:t>(px, py, "pe.csl", .{ ... });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11480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279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0,0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84632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0109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0,1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11480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279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1,0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84632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50109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1,1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11480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279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2,0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84632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50109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2,1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11480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279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3,0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846320"/>
            <a:ext cx="640080" cy="640080"/>
          </a:xfrm>
          <a:prstGeom prst="rect">
            <a:avLst/>
          </a:prstGeom>
          <a:solidFill>
            <a:srgbClr val="182030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50109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4FC3F7"/>
                </a:solidFill>
                <a:latin typeface="Consolas"/>
              </a:rPr>
              <a:t>3,1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Consolas"/>
              </a:rPr>
              <a:t>8 PEs
32 f32 / PE
= 256 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-csl-auto-vectorize  ·  scf.for → DSD intrinsic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Greedy rewriter that recognizes element-wise loop idioms and rewrites them as a single SDK builtin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CSL builtin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4767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Recognized idiom (f32)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622"/>
                </a:solidFill>
                <a:latin typeface="Calibri"/>
              </a:rPr>
              <a:t>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097280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048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Consolas"/>
              </a:rPr>
              <a:t>@fadds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404872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c[i] = a[i] + b[i]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4048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FaddsPattern · Rank2FaddsPattern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10972800" cy="5029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0779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Consolas"/>
              </a:rPr>
              <a:t>@fsubs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907792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c[i] = a[i] - b[i]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90779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FsubsPattern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1097280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41071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Consolas"/>
              </a:rPr>
              <a:t>@fmuls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410712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c[i] = a[i] * b[i]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41071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FmulsPattern · FmulsScalarPattern  (α*a[i])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94760"/>
            <a:ext cx="10972800" cy="5029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1363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Consolas"/>
              </a:rPr>
              <a:t>@fmacs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3913632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y[i] = α*a[i] + y[i]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9136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FmacsScalarPattern · Rank2FmacsPattern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10972800" cy="50292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41655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Consolas"/>
              </a:rPr>
              <a:t>@fmovs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4416552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c[i] = a[i]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4165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FmovsPattern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00600"/>
            <a:ext cx="10972800" cy="50292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9194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B74D"/>
                </a:solidFill>
                <a:latin typeface="Consolas"/>
              </a:rPr>
              <a:t>@fnegs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2032" y="4919472"/>
            <a:ext cx="3749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c[i] = -a[i]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91947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CF2"/>
                </a:solidFill>
                <a:latin typeface="Consolas"/>
              </a:rPr>
              <a:t>FnegsPattern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B74D"/>
                </a:solidFill>
                <a:latin typeface="Calibri"/>
              </a:rPr>
              <a:t>Loop predicate (13 rules)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69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5B1"/>
                </a:solidFill>
                <a:latin typeface="Calibri"/>
              </a:rPr>
              <a:t>shape 1-5 (lb=0, step=1, ub=N const, single induction var, body terminated by yield)  ·  purity 6-9 (no side-effects beyond stores under analysis)  ·  access 10-12 (canonical affine, equal extents, unit stride)  ·  rule 13 (no stride-0 store target).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-csl-auto-vectorize  ·  fadds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Drop-in replacement for the scf.for; same input MLIR, completely different emitted CSL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Input MLIR (scf.for over 1024 f32)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csl.func</a:t>
            </a:r>
            <a:r>
              <a:rPr sz="1200">
                <a:solidFill>
                  <a:srgbClr val="C9D1D9"/>
                </a:solidFill>
                <a:latin typeface="Consolas"/>
              </a:rPr>
              <a:t> @compute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%c0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0 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%n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1024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%c1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 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scf.for</a:t>
            </a:r>
            <a:r>
              <a:rPr sz="1200">
                <a:solidFill>
                  <a:srgbClr val="C9D1D9"/>
                </a:solidFill>
                <a:latin typeface="Consolas"/>
              </a:rPr>
              <a:t> %i = %c0 to %n step %c1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%va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%a[%i]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%vb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%b[%i]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%vc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arith.addf</a:t>
            </a:r>
            <a:r>
              <a:rPr sz="1200">
                <a:solidFill>
                  <a:srgbClr val="C9D1D9"/>
                </a:solidFill>
                <a:latin typeface="Consolas"/>
              </a:rPr>
              <a:t> %va, %vb :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memref.store</a:t>
            </a:r>
            <a:r>
              <a:rPr sz="1200">
                <a:solidFill>
                  <a:srgbClr val="C9D1D9"/>
                </a:solidFill>
                <a:latin typeface="Consolas"/>
              </a:rPr>
              <a:t> %vc, %c[%i]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&lt;1024xf32&gt;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csl.return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After -csl-auto-vectorize  →  emitted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86400" cy="41148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366400" cy="399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fn</a:t>
            </a:r>
            <a:r>
              <a:rPr sz="1200">
                <a:solidFill>
                  <a:srgbClr val="C9D1D9"/>
                </a:solidFill>
                <a:latin typeface="Consolas"/>
              </a:rPr>
              <a:t> compute() </a:t>
            </a:r>
            <a:r>
              <a:rPr sz="1200" b="1">
                <a:solidFill>
                  <a:srgbClr val="FF9D55"/>
                </a:solidFill>
                <a:latin typeface="Consolas"/>
              </a:rPr>
              <a:t>void</a:t>
            </a:r>
            <a:r>
              <a:rPr sz="12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da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&amp;a, .extent = 1024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db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&amp;b, .extent = 1024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dc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&amp;c, .extent = 1024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@fadds</a:t>
            </a:r>
            <a:r>
              <a:rPr sz="1200">
                <a:solidFill>
                  <a:srgbClr val="C9D1D9"/>
                </a:solidFill>
                <a:latin typeface="Consolas"/>
              </a:rPr>
              <a:t>(dc, da, db);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-csl-auto-vectorize  ·  stencil with subview-offset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c[i] = a[i-1] + a[i] for i ∈ [1, N-1)   →   two subviews of `a` + one of `c` + @fadds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Input MLIR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csl.func</a:t>
            </a:r>
            <a:r>
              <a:rPr sz="1200">
                <a:solidFill>
                  <a:srgbClr val="C9D1D9"/>
                </a:solidFill>
                <a:latin typeface="Consolas"/>
              </a:rPr>
              <a:t> @compute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%c1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  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%Nm1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arith.constant</a:t>
            </a:r>
            <a:r>
              <a:rPr sz="1200">
                <a:solidFill>
                  <a:srgbClr val="C9D1D9"/>
                </a:solidFill>
                <a:latin typeface="Consolas"/>
              </a:rPr>
              <a:t> 127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scf.for</a:t>
            </a:r>
            <a:r>
              <a:rPr sz="1200">
                <a:solidFill>
                  <a:srgbClr val="C9D1D9"/>
                </a:solidFill>
                <a:latin typeface="Consolas"/>
              </a:rPr>
              <a:t> %i = %c1 to %Nm1 step %c1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%im1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arith.subi</a:t>
            </a:r>
            <a:r>
              <a:rPr sz="1200">
                <a:solidFill>
                  <a:srgbClr val="C9D1D9"/>
                </a:solidFill>
                <a:latin typeface="Consolas"/>
              </a:rPr>
              <a:t> %i, %c1 : </a:t>
            </a:r>
            <a:r>
              <a:rPr sz="12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%vl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%a[%im1]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&lt;128xf32&gt;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%vc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200">
                <a:solidFill>
                  <a:srgbClr val="C9D1D9"/>
                </a:solidFill>
                <a:latin typeface="Consolas"/>
              </a:rPr>
              <a:t> %a[%i]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&lt;128xf32&gt;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%s 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arith.addf</a:t>
            </a:r>
            <a:r>
              <a:rPr sz="1200">
                <a:solidFill>
                  <a:srgbClr val="C9D1D9"/>
                </a:solidFill>
                <a:latin typeface="Consolas"/>
              </a:rPr>
              <a:t> %vl, %vc :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memref.store</a:t>
            </a:r>
            <a:r>
              <a:rPr sz="1200">
                <a:solidFill>
                  <a:srgbClr val="C9D1D9"/>
                </a:solidFill>
                <a:latin typeface="Consolas"/>
              </a:rPr>
              <a:t> %s, %c[%i]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       </a:t>
            </a:r>
            <a:r>
              <a:rPr sz="1200">
                <a:solidFill>
                  <a:srgbClr val="C9D1D9"/>
                </a:solidFill>
                <a:latin typeface="Consolas"/>
              </a:rPr>
              <a:t>: </a:t>
            </a:r>
            <a:r>
              <a:rPr sz="12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200">
                <a:solidFill>
                  <a:srgbClr val="C9D1D9"/>
                </a:solidFill>
                <a:latin typeface="Consolas"/>
              </a:rPr>
              <a:t>&lt;128xf32&gt;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csl.return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Emitted CSL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86400" cy="429768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D55"/>
                </a:solidFill>
                <a:latin typeface="Consolas"/>
              </a:rPr>
              <a:t>fn</a:t>
            </a:r>
            <a:r>
              <a:rPr sz="1200">
                <a:solidFill>
                  <a:srgbClr val="C9D1D9"/>
                </a:solidFill>
                <a:latin typeface="Consolas"/>
              </a:rPr>
              <a:t> compute() </a:t>
            </a:r>
            <a:r>
              <a:rPr sz="1200" b="1">
                <a:solidFill>
                  <a:srgbClr val="FF9D55"/>
                </a:solidFill>
                <a:latin typeface="Consolas"/>
              </a:rPr>
              <a:t>void</a:t>
            </a:r>
            <a:r>
              <a:rPr sz="12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da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&amp;a, .extent = 128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dc 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@get_dsd</a:t>
            </a:r>
            <a:r>
              <a:rPr sz="1200">
                <a:solidFill>
                  <a:srgbClr val="C9D1D9"/>
                </a:solidFill>
                <a:latin typeface="Consolas"/>
              </a:rPr>
              <a:t>(</a:t>
            </a:r>
            <a:r>
              <a:rPr sz="1200" b="1">
                <a:solidFill>
                  <a:srgbClr val="FF9D55"/>
                </a:solidFill>
                <a:latin typeface="Consolas"/>
              </a:rPr>
              <a:t>mem1d_dsd</a:t>
            </a:r>
            <a:r>
              <a:rPr sz="1200">
                <a:solidFill>
                  <a:srgbClr val="C9D1D9"/>
                </a:solidFill>
                <a:latin typeface="Consolas"/>
              </a:rPr>
              <a:t>, .{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  </a:t>
            </a:r>
            <a:r>
              <a:rPr sz="1200">
                <a:solidFill>
                  <a:srgbClr val="C9D1D9"/>
                </a:solidFill>
                <a:latin typeface="Consolas"/>
              </a:rPr>
              <a:t>.base_address = &amp;c, .extent = 128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C9D1D9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708090"/>
                </a:solidFill>
                <a:latin typeface="Consolas"/>
              </a:rPr>
              <a:t>// a[i-1]  →  base + 0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da0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@increment_dsd_offset</a:t>
            </a:r>
            <a:r>
              <a:rPr sz="1200">
                <a:solidFill>
                  <a:srgbClr val="C9D1D9"/>
                </a:solidFill>
                <a:latin typeface="Consolas"/>
              </a:rPr>
              <a:t>(da, 0,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  <a:r>
              <a:rPr sz="1200">
                <a:solidFill>
                  <a:srgbClr val="C9D1D9"/>
                </a:solidFill>
                <a:latin typeface="Consolas"/>
              </a:rPr>
              <a:t>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708090"/>
                </a:solidFill>
                <a:latin typeface="Consolas"/>
              </a:rPr>
              <a:t>// a[i]    →  base + 1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da1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@increment_dsd_offset</a:t>
            </a:r>
            <a:r>
              <a:rPr sz="1200">
                <a:solidFill>
                  <a:srgbClr val="C9D1D9"/>
                </a:solidFill>
                <a:latin typeface="Consolas"/>
              </a:rPr>
              <a:t>(da, 1,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  <a:r>
              <a:rPr sz="1200">
                <a:solidFill>
                  <a:srgbClr val="C9D1D9"/>
                </a:solidFill>
                <a:latin typeface="Consolas"/>
              </a:rPr>
              <a:t>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>
                <a:solidFill>
                  <a:srgbClr val="708090"/>
                </a:solidFill>
                <a:latin typeface="Consolas"/>
              </a:rPr>
              <a:t>// c[i]    →  base + 1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const</a:t>
            </a:r>
            <a:r>
              <a:rPr sz="1200">
                <a:solidFill>
                  <a:srgbClr val="C9D1D9"/>
                </a:solidFill>
                <a:latin typeface="Consolas"/>
              </a:rPr>
              <a:t> dc1 = </a:t>
            </a:r>
            <a:r>
              <a:rPr sz="1200" b="1">
                <a:solidFill>
                  <a:srgbClr val="FF9D55"/>
                </a:solidFill>
                <a:latin typeface="Consolas"/>
              </a:rPr>
              <a:t>@increment_dsd_offset</a:t>
            </a:r>
            <a:r>
              <a:rPr sz="1200">
                <a:solidFill>
                  <a:srgbClr val="C9D1D9"/>
                </a:solidFill>
                <a:latin typeface="Consolas"/>
              </a:rPr>
              <a:t>(dc, 1, </a:t>
            </a:r>
            <a:r>
              <a:rPr sz="1200" b="1">
                <a:solidFill>
                  <a:srgbClr val="FF9D55"/>
                </a:solidFill>
                <a:latin typeface="Consolas"/>
              </a:rPr>
              <a:t>f32</a:t>
            </a:r>
            <a:r>
              <a:rPr sz="1200">
                <a:solidFill>
                  <a:srgbClr val="C9D1D9"/>
                </a:solidFill>
                <a:latin typeface="Consolas"/>
              </a:rPr>
              <a:t>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  </a:t>
            </a:r>
            <a:r>
              <a:rPr sz="1200" b="1">
                <a:solidFill>
                  <a:srgbClr val="FF9D55"/>
                </a:solidFill>
                <a:latin typeface="Consolas"/>
              </a:rPr>
              <a:t>@fadds</a:t>
            </a:r>
            <a:r>
              <a:rPr sz="1200">
                <a:solidFill>
                  <a:srgbClr val="C9D1D9"/>
                </a:solidFill>
                <a:latin typeface="Consolas"/>
              </a:rPr>
              <a:t>(dc1, da0, da1);</a:t>
            </a:r>
          </a:p>
          <a:p>
            <a:pPr algn="l"/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Control Flow  ·  scf maps cleanly to CSL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scf.for → while loop, scf.if → if/else, scf.index_switch →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  <a:latin typeface="Calibri"/>
              </a:rPr>
              <a:t>1-D 3-pt stencil  (scf.for + scf.if)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D55"/>
                </a:solidFill>
                <a:latin typeface="Consolas"/>
              </a:rPr>
              <a:t>scf.for</a:t>
            </a:r>
            <a:r>
              <a:rPr sz="1100">
                <a:solidFill>
                  <a:srgbClr val="C9D1D9"/>
                </a:solidFill>
                <a:latin typeface="Consolas"/>
              </a:rPr>
              <a:t> %i = %c0 to %cN step %c1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%is_b = </a:t>
            </a:r>
            <a:r>
              <a:rPr sz="1100" b="1">
                <a:solidFill>
                  <a:srgbClr val="FF9D55"/>
                </a:solidFill>
                <a:latin typeface="Consolas"/>
              </a:rPr>
              <a:t>arith.ori</a:t>
            </a:r>
            <a:r>
              <a:rPr sz="1100">
                <a:solidFill>
                  <a:srgbClr val="C9D1D9"/>
                </a:solidFill>
                <a:latin typeface="Consolas"/>
              </a:rPr>
              <a:t> %ii0, %iiN : </a:t>
            </a:r>
            <a:r>
              <a:rPr sz="1100" b="1">
                <a:solidFill>
                  <a:srgbClr val="FF9D55"/>
                </a:solidFill>
                <a:latin typeface="Consolas"/>
              </a:rPr>
              <a:t>i1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scf.if</a:t>
            </a:r>
            <a:r>
              <a:rPr sz="1100">
                <a:solidFill>
                  <a:srgbClr val="C9D1D9"/>
                </a:solidFill>
                <a:latin typeface="Consolas"/>
              </a:rPr>
              <a:t> %is_b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%v =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100">
                <a:solidFill>
                  <a:srgbClr val="C9D1D9"/>
                </a:solidFill>
                <a:latin typeface="Consolas"/>
              </a:rPr>
              <a:t> %x[%i] :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</a:t>
            </a:r>
            <a:r>
              <a:rPr sz="1100">
                <a:solidFill>
                  <a:srgbClr val="C9D1D9"/>
                </a:solidFill>
                <a:latin typeface="Consolas"/>
              </a:rPr>
              <a:t>&lt;128xf32&gt;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memref.store</a:t>
            </a:r>
            <a:r>
              <a:rPr sz="1100">
                <a:solidFill>
                  <a:srgbClr val="C9D1D9"/>
                </a:solidFill>
                <a:latin typeface="Consolas"/>
              </a:rPr>
              <a:t> %v, %y[%i] :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 </a:t>
            </a:r>
            <a:r>
              <a:rPr sz="1100" b="1">
                <a:solidFill>
                  <a:srgbClr val="FF9D55"/>
                </a:solidFill>
                <a:latin typeface="Consolas"/>
              </a:rPr>
              <a:t>else</a:t>
            </a:r>
            <a:r>
              <a:rPr sz="1100">
                <a:solidFill>
                  <a:srgbClr val="C9D1D9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%vm =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100">
                <a:solidFill>
                  <a:srgbClr val="C9D1D9"/>
                </a:solidFill>
                <a:latin typeface="Consolas"/>
              </a:rPr>
              <a:t> %x[%i-1] :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%vi =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100">
                <a:solidFill>
                  <a:srgbClr val="C9D1D9"/>
                </a:solidFill>
                <a:latin typeface="Consolas"/>
              </a:rPr>
              <a:t> %x[%i]   :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%vp =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memref.load</a:t>
            </a:r>
            <a:r>
              <a:rPr sz="1100">
                <a:solidFill>
                  <a:srgbClr val="C9D1D9"/>
                </a:solidFill>
                <a:latin typeface="Consolas"/>
              </a:rPr>
              <a:t> %x[%i+1] :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%s2 = ... 0.5*vm + vi + 0.5*vp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memref.store</a:t>
            </a:r>
            <a:r>
              <a:rPr sz="1100">
                <a:solidFill>
                  <a:srgbClr val="C9D1D9"/>
                </a:solidFill>
                <a:latin typeface="Consolas"/>
              </a:rPr>
              <a:t> %s2, %y[%i] : ...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  <a:latin typeface="Calibri"/>
              </a:rPr>
              <a:t>Branch on i % 3  (scf.index_switch)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486400" cy="429768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6480" y="2071680"/>
            <a:ext cx="5366400" cy="417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D55"/>
                </a:solidFill>
                <a:latin typeface="Consolas"/>
              </a:rPr>
              <a:t>scf.for</a:t>
            </a:r>
            <a:r>
              <a:rPr sz="1100">
                <a:solidFill>
                  <a:srgbClr val="C9D1D9"/>
                </a:solidFill>
                <a:latin typeface="Consolas"/>
              </a:rPr>
              <a:t> %i = %c0 to %n step %c1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%mod = </a:t>
            </a:r>
            <a:r>
              <a:rPr sz="1100" b="1">
                <a:solidFill>
                  <a:srgbClr val="FF9D55"/>
                </a:solidFill>
                <a:latin typeface="Consolas"/>
              </a:rPr>
              <a:t>arith.remsi</a:t>
            </a:r>
            <a:r>
              <a:rPr sz="1100">
                <a:solidFill>
                  <a:srgbClr val="C9D1D9"/>
                </a:solidFill>
                <a:latin typeface="Consolas"/>
              </a:rPr>
              <a:t> %i, %c3 : </a:t>
            </a:r>
            <a:r>
              <a:rPr sz="1100" b="1">
                <a:solidFill>
                  <a:srgbClr val="FF9D55"/>
                </a:solidFill>
                <a:latin typeface="Consolas"/>
              </a:rPr>
              <a:t>index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scf.index_switch</a:t>
            </a:r>
            <a:r>
              <a:rPr sz="1100">
                <a:solidFill>
                  <a:srgbClr val="C9D1D9"/>
                </a:solidFill>
                <a:latin typeface="Consolas"/>
              </a:rPr>
              <a:t> %mod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case</a:t>
            </a:r>
            <a:r>
              <a:rPr sz="1100">
                <a:solidFill>
                  <a:srgbClr val="C9D1D9"/>
                </a:solidFill>
                <a:latin typeface="Consolas"/>
              </a:rPr>
              <a:t> 0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>
                <a:solidFill>
                  <a:srgbClr val="C9D1D9"/>
                </a:solidFill>
                <a:latin typeface="Consolas"/>
              </a:rPr>
              <a:t>%s = </a:t>
            </a:r>
            <a:r>
              <a:rPr sz="1100" b="1">
                <a:solidFill>
                  <a:srgbClr val="FF9D55"/>
                </a:solidFill>
                <a:latin typeface="Consolas"/>
              </a:rPr>
              <a:t>arith.addf</a:t>
            </a:r>
            <a:r>
              <a:rPr sz="1100">
                <a:solidFill>
                  <a:srgbClr val="C9D1D9"/>
                </a:solidFill>
                <a:latin typeface="Consolas"/>
              </a:rPr>
              <a:t> %va, %vb : </a:t>
            </a:r>
            <a:r>
              <a:rPr sz="1100" b="1">
                <a:solidFill>
                  <a:srgbClr val="FF9D55"/>
                </a:solidFill>
                <a:latin typeface="Consolas"/>
              </a:rPr>
              <a:t>f32</a:t>
            </a:r>
            <a:r>
              <a:rPr sz="1100">
                <a:solidFill>
                  <a:srgbClr val="C9D1D9"/>
                </a:solidFill>
                <a:latin typeface="Consolas"/>
              </a:rPr>
              <a:t>   // emits switch (mod) 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memref.store</a:t>
            </a:r>
            <a:r>
              <a:rPr sz="1100">
                <a:solidFill>
                  <a:srgbClr val="C9D1D9"/>
                </a:solidFill>
                <a:latin typeface="Consolas"/>
              </a:rPr>
              <a:t> %s, %c[%i] : ...    //   0 =&gt; { c[i] = a[i] + b[i]; 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  </a:t>
            </a:r>
            <a:r>
              <a:rPr sz="1100" b="1">
                <a:solidFill>
                  <a:srgbClr val="FF9D55"/>
                </a:solidFill>
                <a:latin typeface="Consolas"/>
              </a:rPr>
              <a:t>scf.yield</a:t>
            </a:r>
            <a:r>
              <a:rPr sz="1100">
                <a:solidFill>
                  <a:srgbClr val="C9D1D9"/>
                </a:solidFill>
                <a:latin typeface="Consolas"/>
              </a:rPr>
              <a:t>                        //   1 =&gt; { c[i] = a[i] - b[i]; 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>
                <a:solidFill>
                  <a:srgbClr val="C9D1D9"/>
                </a:solidFill>
                <a:latin typeface="Consolas"/>
              </a:rPr>
              <a:t>}                                  //   </a:t>
            </a:r>
            <a:r>
              <a:rPr sz="1100" b="1">
                <a:solidFill>
                  <a:srgbClr val="FF9D55"/>
                </a:solidFill>
                <a:latin typeface="Consolas"/>
              </a:rPr>
              <a:t>else</a:t>
            </a:r>
            <a:r>
              <a:rPr sz="1100">
                <a:solidFill>
                  <a:srgbClr val="C9D1D9"/>
                </a:solidFill>
                <a:latin typeface="Consolas"/>
              </a:rPr>
              <a:t> =&gt; { c[i] = a[i] * b[i]; 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case</a:t>
            </a:r>
            <a:r>
              <a:rPr sz="1100">
                <a:solidFill>
                  <a:srgbClr val="C9D1D9"/>
                </a:solidFill>
                <a:latin typeface="Consolas"/>
              </a:rPr>
              <a:t> 1 { ... }                     // 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  </a:t>
            </a:r>
            <a:r>
              <a:rPr sz="1100" b="1">
                <a:solidFill>
                  <a:srgbClr val="FF9D55"/>
                </a:solidFill>
                <a:latin typeface="Consolas"/>
              </a:rPr>
              <a:t>default</a:t>
            </a:r>
            <a:r>
              <a:rPr sz="1100">
                <a:solidFill>
                  <a:srgbClr val="C9D1D9"/>
                </a:solidFill>
                <a:latin typeface="Consolas"/>
              </a:rPr>
              <a:t> { ... </a:t>
            </a:r>
            <a:r>
              <a:rPr sz="1100" b="1">
                <a:solidFill>
                  <a:srgbClr val="FF9D55"/>
                </a:solidFill>
                <a:latin typeface="Consolas"/>
              </a:rPr>
              <a:t>arith.mulf</a:t>
            </a:r>
            <a:r>
              <a:rPr sz="1100">
                <a:solidFill>
                  <a:srgbClr val="C9D1D9"/>
                </a:solidFill>
                <a:latin typeface="Consolas"/>
              </a:rPr>
              <a:t> ... 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End-to-End  ·  AIR vecadd → emitted CSL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One air-opt invocation; one air-translate invocation; produces a runnable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914400"/>
          </a:xfrm>
          <a:prstGeom prst="rect">
            <a:avLst/>
          </a:prstGeom>
          <a:solidFill>
            <a:srgbClr val="0B1018"/>
          </a:solidFill>
          <a:ln w="6350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1751640"/>
            <a:ext cx="11127120" cy="79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$ air-opt vecadd_e2e.mlir -air-to-csl -csl-infer-exports \</a:t>
            </a:r>
          </a:p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    </a:t>
            </a:r>
            <a:r>
              <a:rPr sz="1300">
                <a:solidFill>
                  <a:srgbClr val="C9D1D9"/>
                </a:solidFill>
                <a:latin typeface="Consolas"/>
              </a:rPr>
              <a:t>| air-translate --emit-csl --output-dir=out/</a:t>
            </a:r>
          </a:p>
          <a:p>
            <a:pPr algn="l"/>
          </a:p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$ ls out/vecadd/</a:t>
            </a:r>
          </a:p>
          <a:p>
            <a:pPr algn="l"/>
            <a:r>
              <a:rPr sz="1300">
                <a:solidFill>
                  <a:srgbClr val="C9D1D9"/>
                </a:solidFill>
                <a:latin typeface="Consolas"/>
              </a:rPr>
              <a:t>  </a:t>
            </a:r>
            <a:r>
              <a:rPr sz="1300">
                <a:solidFill>
                  <a:srgbClr val="C9D1D9"/>
                </a:solidFill>
                <a:latin typeface="Consolas"/>
              </a:rPr>
              <a:t>pe.csl       layout.csl       run.py       commands_wse2.sh    commands_wse3.sh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47120" cy="33832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Calibri"/>
              </a:rPr>
              <a:t>What -air-to-csl actually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air.launch  →  csl.host  (drives memcpy_h2d / launch / memcpy_d2h)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air.segment  →  elided  (no L2 buffer concept on the wafer)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air.herd over [0:N, 0]  →  csl_layout.place @pe over [0:N, 0]   (N-PE SIMD)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herd body  →  csl.func @compute  (preserved verbatim, including scf.for/if)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memref args  →  csl.var + csl.export   (so host can memcpy by name)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C3F7"/>
                </a:solidFill>
                <a:latin typeface="Calibri"/>
              </a:rPr>
              <a:t>▸  </a:t>
            </a:r>
            <a:r>
              <a:rPr sz="1400">
                <a:solidFill>
                  <a:srgbClr val="E6ECF2"/>
                </a:solidFill>
                <a:latin typeface="Calibri"/>
              </a:rPr>
              <a:t>verifier rejects: async tokens, channel ops, dma in body, dynamic memrefs, multiple herds, non-supported eltypes  (—  see Conversion/AIRToCSL/reject_*.mlir)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Test Corpus &amp;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Lit + FileCheck for every IR transition; pre-push runs the full simulator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Calibri"/>
              </a:rPr>
              <a:t>Test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1247120" cy="41148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622"/>
                </a:solidFill>
                <a:latin typeface="Calibri"/>
              </a:rPr>
              <a:t>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622"/>
                </a:solidFill>
                <a:latin typeface="Calibri"/>
              </a:rPr>
              <a:t>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488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622"/>
                </a:solidFill>
                <a:latin typeface="Calibri"/>
              </a:rPr>
              <a:t>What it covers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11247120" cy="4114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420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Dialect/CSL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420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21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54203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round-trip + verifier (datamovement, kernel, layout, runtime)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11247120" cy="41148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535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Dialect/CSL/Transforms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9535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auto-vec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95351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noop, rank-2 fadds/fmacs, fall-through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11247120" cy="4114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649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Conversion/AIRToCSL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3649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13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36499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vecadd e2e, simd_herd, infer_exports, 7× reject_*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7647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Targets/CSLEmit/e2e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7764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35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77647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elementwise, sizes, layouts, multifunc, multi_wafer,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47120" cy="4114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1879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CSLEmit/e2e/scientific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1879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8 kernels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18795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saxpy, dot, stencil_1d, norm_sq, even_saxpy, diag, broadcast, matrix_row_col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5994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CSLEmit/e2e/auto-vectorize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5994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8 patterns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59943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fadds, fsubs, fmuls, fmovs, fnegs, fmuls_scalar, fmacs_scalar, stencil_fadds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0109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B74D"/>
                </a:solidFill>
                <a:latin typeface="Consolas"/>
              </a:rPr>
              <a:t>CSLEmit/e2e/switch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0109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CF2"/>
                </a:solidFill>
                <a:latin typeface="Consolas"/>
              </a:rPr>
              <a:t>1 kernel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5010912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6ECF2"/>
                </a:solidFill>
                <a:latin typeface="Calibri"/>
              </a:rPr>
              <a:t>switch_basic — runs on simulator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Calibri"/>
              </a:rPr>
              <a:t>CI / pre-push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15000"/>
            <a:ext cx="11247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GitHub Actions: lit-only on stock runners (slim LLVM build, cached aggressively)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Pre-push hook: full CSL suite — lit + parallel simulator runs via run_csl_ci.sh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Branch policy: non-CSL workflows disabled on air-to-fire so failures stay focused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109728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CF2"/>
                </a:solidFill>
                <a:latin typeface="Calibri"/>
              </a:rPr>
              <a:t>Recap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5B1"/>
                </a:solidFill>
                <a:latin typeface="Calibri"/>
              </a:rPr>
              <a:t>Where we are vs. what's still on the 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75720" cy="9525"/>
          </a:xfrm>
          <a:prstGeom prst="rect">
            <a:avLst/>
          </a:prstGeom>
          <a:solidFill>
            <a:srgbClr val="18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81C784"/>
                </a:solidFill>
                <a:latin typeface="Calibri"/>
              </a:rPr>
              <a:t>Recap  —  shipped on this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CSL dialect v2 → v5  (six op groups, csl.wafer container)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-air-to-csl  lowering with verifier rejecting unsupported AIR forms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--emit-csl  → pe.csl + layout.csl + run.py + numpy reference check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Subgrid  csl_layout.place over [a:b, c:d]  +  N-PE SIMD via air.herd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DSDs:  @get_dsd, strided memref.subview, @increment_dsd_offset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-csl-auto-vectorize  with 8 patterns (fadds/fsubs/fmuls/fmovs/fnegs + scalar + rank-2)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Control flow:  scf.for/if/while/index_switch  →  while/if/switch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CI: lit on GitHub, full simulator on pre-push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Calibri"/>
              </a:rPr>
              <a:t>What's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486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Auto-vectorize: integer dtypes (i16/i32) — locked f32-only for T1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Multi-PE communication: csl.routing + air.channel lowering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AIR async tokens → csl tasks (today rejected by verifier)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GEMM / tiled kernels — needs sharded multi-axis subview support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Translation validation (SMT sketch in docs/superpowers/futureideas/)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4FC3F7"/>
                </a:solidFill>
                <a:latin typeface="Calibri"/>
              </a:rPr>
              <a:t>▸  </a:t>
            </a:r>
            <a:r>
              <a:rPr sz="1300">
                <a:solidFill>
                  <a:srgbClr val="E6ECF2"/>
                </a:solidFill>
                <a:latin typeface="Calibri"/>
              </a:rPr>
              <a:t>SPADA gap analysis driving next round of dialect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5B1"/>
                </a:solidFill>
                <a:latin typeface="Consolas"/>
              </a:rPr>
              <a:t>Specs:  docs/superpowers/specs/{csl-redesign, csl-dialect-v2, csl-v3-ir-refinements, csl-v4-subgrid, csl-auto-vectorize}.md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5B1"/>
                </a:solidFill>
                <a:latin typeface="Calibri"/>
              </a:rPr>
              <a:t>mlir-air  ·  CSL backend  ·  air-to-fire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AA5B1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164592" cy="19202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6ECF2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B74D"/>
                </a:solidFill>
                <a:latin typeface="Consolas"/>
              </a:rPr>
              <a:t>Demo:  air-opt … -air-to-csl  |  air-translate --emit-csl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5B1"/>
                </a:solidFill>
                <a:latin typeface="Calibri"/>
              </a:rPr>
              <a:t>Branch  air-to-fire  ·  35 e2e tests green on simulator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